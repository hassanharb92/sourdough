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12"/>
  </p:normalViewPr>
  <p:slideViewPr>
    <p:cSldViewPr snapToGrid="0">
      <p:cViewPr>
        <p:scale>
          <a:sx n="193" d="100"/>
          <a:sy n="193" d="100"/>
        </p:scale>
        <p:origin x="186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40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-1"/>
            <a:ext cx="12191999" cy="5984917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6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9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" y="-14245"/>
            <a:ext cx="12191999" cy="5999161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9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" y="-14245"/>
            <a:ext cx="12191999" cy="5999161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5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84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F4CFF5-2A2E-8945-9027-39964E4B3E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4246"/>
            <a:ext cx="12192000" cy="599916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1"/>
            <a:ext cx="12191999" cy="5970669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0D23278-3667-1F4A-8304-61669185B1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4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80326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60379"/>
            <a:ext cx="11163868" cy="442277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491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itle Onl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78098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TITLE AND CONTENT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4467" y="1445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9CDC428E-DBB5-1649-8291-2FA82A5C9E82}"/>
              </a:ext>
            </a:extLst>
          </p:cNvPr>
          <p:cNvGrpSpPr/>
          <p:nvPr/>
        </p:nvGrpSpPr>
        <p:grpSpPr>
          <a:xfrm>
            <a:off x="558799" y="1854200"/>
            <a:ext cx="11026501" cy="4419600"/>
            <a:chOff x="419099" y="1390650"/>
            <a:chExt cx="8269876" cy="33147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1F8818-1FE6-2341-BE7A-993CECC5541D}"/>
                </a:ext>
              </a:extLst>
            </p:cNvPr>
            <p:cNvSpPr/>
            <p:nvPr/>
          </p:nvSpPr>
          <p:spPr>
            <a:xfrm>
              <a:off x="419100" y="1390650"/>
              <a:ext cx="4045324" cy="22290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SPONSOR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B991B3-C8CA-5842-83B0-825B25C421FB}"/>
                </a:ext>
              </a:extLst>
            </p:cNvPr>
            <p:cNvSpPr/>
            <p:nvPr/>
          </p:nvSpPr>
          <p:spPr>
            <a:xfrm>
              <a:off x="4643651" y="1390650"/>
              <a:ext cx="4045324" cy="22290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FUNDING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CDC5DB-87A9-9449-8FD5-702421FEB657}"/>
                </a:ext>
              </a:extLst>
            </p:cNvPr>
            <p:cNvSpPr/>
            <p:nvPr/>
          </p:nvSpPr>
          <p:spPr>
            <a:xfrm>
              <a:off x="419099" y="1765436"/>
              <a:ext cx="3493227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DESCRIPTION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Current projects exploring: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Identification and fingerprinting of electronic control units using ML/DL/AI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Creation of a vehicle simulation testbed 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Creation of a automotive mobility testbed to safely test resilience measures such as sensor fusion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Threat modeling, </a:t>
              </a:r>
              <a:r>
                <a:rPr lang="en-US" sz="1600" dirty="0" err="1">
                  <a:solidFill>
                    <a:schemeClr val="tx1"/>
                  </a:solidFill>
                </a:rPr>
                <a:t>pentesting</a:t>
              </a:r>
              <a:r>
                <a:rPr lang="en-US" sz="1600" dirty="0">
                  <a:solidFill>
                    <a:schemeClr val="tx1"/>
                  </a:solidFill>
                </a:rPr>
                <a:t>, and risk analysis of vehicle to grid infrastructure (EVSE/</a:t>
              </a:r>
              <a:r>
                <a:rPr lang="en-US" sz="1600" dirty="0" err="1">
                  <a:solidFill>
                    <a:schemeClr val="tx1"/>
                  </a:solidFill>
                </a:rPr>
                <a:t>xFC</a:t>
              </a:r>
              <a:r>
                <a:rPr lang="en-US" sz="1600" dirty="0">
                  <a:solidFill>
                    <a:schemeClr val="tx1"/>
                  </a:solidFill>
                </a:rPr>
                <a:t>)</a:t>
              </a:r>
            </a:p>
            <a:p>
              <a:endParaRPr lang="en-US" sz="16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433469-4EFE-E542-978B-1448E472CC26}"/>
                </a:ext>
              </a:extLst>
            </p:cNvPr>
            <p:cNvSpPr/>
            <p:nvPr/>
          </p:nvSpPr>
          <p:spPr>
            <a:xfrm>
              <a:off x="4054358" y="1765436"/>
              <a:ext cx="2185332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RESULTS</a:t>
              </a:r>
            </a:p>
            <a:p>
              <a:pPr marL="152396" indent="-152396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Deliverables include simulation testbed software, physical testbed, industry papers, DOE white papers</a:t>
              </a:r>
            </a:p>
            <a:p>
              <a:pPr marL="152396" indent="-152396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Results will impact current charging infrastructure deployment and shape secure architectures and policy</a:t>
              </a:r>
            </a:p>
            <a:p>
              <a:endParaRPr lang="en-US" sz="1600" b="1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54D32-AD25-E741-99D1-1FFB7CFA218F}"/>
                </a:ext>
              </a:extLst>
            </p:cNvPr>
            <p:cNvSpPr/>
            <p:nvPr/>
          </p:nvSpPr>
          <p:spPr>
            <a:xfrm>
              <a:off x="6392591" y="1765436"/>
              <a:ext cx="2296383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CONTRIBUTION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Techniques and tools developed apply to heavy vehicles which impact critical infrastructure, military operations, and commerce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C35AC7-582F-7D4E-ADFB-FDB003388826}"/>
                </a:ext>
              </a:extLst>
            </p:cNvPr>
            <p:cNvSpPr/>
            <p:nvPr/>
          </p:nvSpPr>
          <p:spPr>
            <a:xfrm>
              <a:off x="419100" y="4098842"/>
              <a:ext cx="4045324" cy="606508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ARGONNE CAPABILITIES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101D9A-0D44-9848-B7BE-578BE7238C03}"/>
                </a:ext>
              </a:extLst>
            </p:cNvPr>
            <p:cNvSpPr/>
            <p:nvPr/>
          </p:nvSpPr>
          <p:spPr>
            <a:xfrm>
              <a:off x="4643651" y="4098842"/>
              <a:ext cx="4045324" cy="606508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FUTURE OUTLOOK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365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*Titl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78098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TITLE AND CONTENT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4467" y="1445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6A010B-81D1-D941-BDE7-50CB6BFE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859176"/>
              </p:ext>
            </p:extLst>
          </p:nvPr>
        </p:nvGraphicFramePr>
        <p:xfrm>
          <a:off x="609600" y="2024327"/>
          <a:ext cx="11163867" cy="427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967">
                  <a:extLst>
                    <a:ext uri="{9D8B030D-6E8A-4147-A177-3AD203B41FA5}">
                      <a16:colId xmlns:a16="http://schemas.microsoft.com/office/drawing/2014/main" val="953177877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3184500041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3933062838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434370605"/>
                    </a:ext>
                  </a:extLst>
                </a:gridCol>
              </a:tblGrid>
              <a:tr h="1424161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385294"/>
                  </a:ext>
                </a:extLst>
              </a:tr>
              <a:tr h="1424161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61716"/>
                  </a:ext>
                </a:extLst>
              </a:tr>
              <a:tr h="1424161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3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65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olumns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61017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1862909"/>
            <a:ext cx="5364480" cy="4422775"/>
          </a:xfrm>
        </p:spPr>
        <p:txBody>
          <a:bodyPr/>
          <a:lstStyle>
            <a:lvl1pPr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67451" y="1862909"/>
            <a:ext cx="5364480" cy="4422775"/>
          </a:xfrm>
        </p:spPr>
        <p:txBody>
          <a:bodyPr/>
          <a:lstStyle>
            <a:lvl1pPr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</p:spTree>
    <p:extLst>
      <p:ext uri="{BB962C8B-B14F-4D97-AF65-F5344CB8AC3E}">
        <p14:creationId xmlns:p14="http://schemas.microsoft.com/office/powerpoint/2010/main" val="187664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olumns-TWO w/boxed 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14527" y="2454269"/>
            <a:ext cx="5486400" cy="3835883"/>
          </a:xfrm>
          <a:ln>
            <a:solidFill>
              <a:schemeClr val="bg1">
                <a:lumMod val="50000"/>
              </a:schemeClr>
            </a:solidFill>
          </a:ln>
        </p:spPr>
        <p:txBody>
          <a:bodyPr lIns="182880" tIns="91440" rIns="91440"/>
          <a:lstStyle>
            <a:lvl1pPr>
              <a:defRPr sz="2400"/>
            </a:lvl1pPr>
            <a:lvl2pPr marL="609585" indent="-230712"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6500" y="2454269"/>
            <a:ext cx="5486400" cy="3835883"/>
          </a:xfrm>
          <a:ln>
            <a:solidFill>
              <a:schemeClr val="bg1">
                <a:lumMod val="50000"/>
              </a:schemeClr>
            </a:solidFill>
          </a:ln>
        </p:spPr>
        <p:txBody>
          <a:bodyPr lIns="182880" tIns="91440" rIns="91440"/>
          <a:lstStyle>
            <a:lvl1pPr>
              <a:defRPr sz="2400"/>
            </a:lvl1pPr>
            <a:lvl2pPr marL="609585" indent="-230712"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0" y="1874730"/>
            <a:ext cx="5486400" cy="620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</p:spPr>
        <p:txBody>
          <a:bodyPr lIns="182880" bIns="0" anchor="ctr"/>
          <a:lstStyle>
            <a:lvl1pPr marL="0" indent="0" algn="l">
              <a:lnSpc>
                <a:spcPct val="100000"/>
              </a:lnSpc>
              <a:buNone/>
              <a:defRPr sz="2400" b="1" cap="all" baseline="0">
                <a:solidFill>
                  <a:schemeClr val="bg1"/>
                </a:solidFill>
              </a:defRPr>
            </a:lvl1pPr>
            <a:lvl2pPr marL="609585" indent="-230712">
              <a:defRPr sz="2133"/>
            </a:lvl2pPr>
            <a:lvl3pPr marL="836063" indent="-171446">
              <a:defRPr sz="1867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  <a:noFill/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14527" y="1874730"/>
            <a:ext cx="5486400" cy="620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 lIns="182880" bIns="0" anchor="ctr"/>
          <a:lstStyle>
            <a:lvl1pPr marL="0" indent="0" algn="l">
              <a:lnSpc>
                <a:spcPct val="100000"/>
              </a:lnSpc>
              <a:buNone/>
              <a:defRPr sz="2400" b="1" cap="all" baseline="0">
                <a:solidFill>
                  <a:schemeClr val="bg1"/>
                </a:solidFill>
              </a:defRPr>
            </a:lvl1pPr>
            <a:lvl2pPr marL="609585" indent="-230712">
              <a:defRPr sz="2133"/>
            </a:lvl2pPr>
            <a:lvl3pPr marL="836063" indent="-171446">
              <a:defRPr sz="1867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Two-column CONTENT slide</a:t>
            </a:r>
            <a:br>
              <a:rPr lang="en-US" dirty="0"/>
            </a:br>
            <a:r>
              <a:rPr lang="en-US" dirty="0"/>
              <a:t>with box treatment</a:t>
            </a:r>
          </a:p>
        </p:txBody>
      </p:sp>
    </p:spTree>
    <p:extLst>
      <p:ext uri="{BB962C8B-B14F-4D97-AF65-F5344CB8AC3E}">
        <p14:creationId xmlns:p14="http://schemas.microsoft.com/office/powerpoint/2010/main" val="86050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04767" y="1890496"/>
            <a:ext cx="5759667" cy="2054443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7" y="1890495"/>
            <a:ext cx="4972641" cy="2087843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60907" y="4271088"/>
            <a:ext cx="4972641" cy="2087843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VERTICAL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04767" y="4257459"/>
            <a:ext cx="5759667" cy="2054443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A0AD6-33FE-814B-87A9-4E608B8F74A5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HREE IMAGE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0412" y="1934727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52525" y="1923614"/>
            <a:ext cx="2698328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49354" y="3493608"/>
            <a:ext cx="2704676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THREE IMAGES – VERTICAL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060412" y="3507968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49353" y="5076181"/>
            <a:ext cx="2704676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060412" y="5059321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308E4-C478-8B4F-9CF3-FE905CC5EAE2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top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51643" y="4188849"/>
            <a:ext cx="5486400" cy="2129163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8" y="4188849"/>
            <a:ext cx="5463447" cy="2129163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5" y="189049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278733" y="189049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top HORIZONTAL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C047F-7504-6040-9A50-9037B6706A1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87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Bottom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5853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1877796"/>
            <a:ext cx="5486400" cy="1717079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7" y="1877796"/>
            <a:ext cx="5486400" cy="1717079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18861" y="361511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27432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307819" y="361511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27432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bottom HORIZONTAL</a:t>
            </a:r>
            <a:br>
              <a:rPr lang="en-US" dirty="0"/>
            </a:br>
            <a:r>
              <a:rPr lang="en-US" dirty="0"/>
              <a:t>WITH CAPTIONS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635022" y="5912892"/>
            <a:ext cx="5327631" cy="47876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6333721" y="5925592"/>
            <a:ext cx="5327631" cy="47876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28104-5CD7-CF40-A1CE-EA92AC64A19C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00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LRG IMAGES - top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51643" y="5475819"/>
            <a:ext cx="5486400" cy="915835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8" y="5475819"/>
            <a:ext cx="5463447" cy="915835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5" y="1894417"/>
            <a:ext cx="5364480" cy="35814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278733" y="1894417"/>
            <a:ext cx="5364480" cy="35814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Large IMAGES w/bullets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72CC85-1438-5F42-9179-3C81994D43C3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0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 -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02173" y="1889396"/>
            <a:ext cx="5053832" cy="3744153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2173" y="5675246"/>
            <a:ext cx="5120640" cy="585031"/>
          </a:xfrm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 IMAGES with captions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6" name="Picture Placeholder 4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53507" y="1888617"/>
            <a:ext cx="5053832" cy="3744153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353507" y="5674467"/>
            <a:ext cx="5120640" cy="585031"/>
          </a:xfrm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948071-63C1-4747-86E2-6482665F5BC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3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85427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61172" y="3806613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08115" y="3806613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70772" y="1887594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17715" y="1887594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8348928" y="3809112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58528" y="1890093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THREE IMAGES – HORIZONTAL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9CC6B-2983-0D4D-82B9-F1A10E59F7C8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67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s/bullets -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1891973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270980" y="1891973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251121" y="1891973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08029" y="1891973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4896695"/>
            <a:ext cx="11246069" cy="1448440"/>
          </a:xfrm>
          <a:noFill/>
        </p:spPr>
        <p:txBody>
          <a:bodyPr lIns="0" tIns="91440"/>
          <a:lstStyle>
            <a:lvl1pPr>
              <a:defRPr sz="2667">
                <a:solidFill>
                  <a:srgbClr val="000000"/>
                </a:solidFill>
              </a:defRPr>
            </a:lvl1pPr>
            <a:lvl2pPr>
              <a:defRPr sz="2667">
                <a:solidFill>
                  <a:srgbClr val="000000"/>
                </a:solidFill>
              </a:defRPr>
            </a:lvl2pPr>
            <a:lvl3pPr>
              <a:defRPr sz="2667">
                <a:solidFill>
                  <a:srgbClr val="000000"/>
                </a:solidFill>
              </a:defRPr>
            </a:lvl3pPr>
            <a:lvl4pPr>
              <a:defRPr sz="2667">
                <a:solidFill>
                  <a:srgbClr val="000000"/>
                </a:solidFill>
              </a:defRPr>
            </a:lvl4pPr>
            <a:lvl5pPr>
              <a:defRPr sz="2667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609585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733" b="1" i="0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four images, captions and bullets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90838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256794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241420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207377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  <a:ln>
            <a:noFill/>
          </a:ln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864AA-5B21-8540-84EC-C73D123264E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56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 -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four IMAGES with captions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50"/>
            <a:ext cx="11163868" cy="276999"/>
          </a:xfrm>
          <a:ln>
            <a:noFill/>
          </a:ln>
        </p:spPr>
        <p:txBody>
          <a:bodyPr b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49916" y="1894418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916" y="3763178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18" name="Picture Placeholder 4"/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549909" y="1894418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6549909" y="3763178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0" name="Picture Placeholder 4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49916" y="4130201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649916" y="6003566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4" name="Picture Placeholder 4"/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549909" y="4130201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6549909" y="6007357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49AAE-F040-DC4F-B49E-873371F2F03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36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harts, Graphs,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graph, chart or table slide. </a:t>
            </a:r>
            <a:br>
              <a:rPr lang="en-US" dirty="0"/>
            </a:br>
            <a:r>
              <a:rPr lang="en-US" dirty="0"/>
              <a:t>Headline in all caps, Arial Font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90105"/>
            <a:ext cx="11163868" cy="4029859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an icon below to add a chart, graph, or table.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91431" y="5943817"/>
            <a:ext cx="4948052" cy="320995"/>
          </a:xfrm>
        </p:spPr>
        <p:txBody>
          <a:bodyPr bIns="0" anchor="t" anchorCtr="0"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52021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6723"/>
            <a:ext cx="12192000" cy="6864724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515940"/>
            <a:ext cx="11163868" cy="806017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CONTENT SLIDE. </a:t>
            </a:r>
            <a:br>
              <a:rPr lang="en-US" dirty="0"/>
            </a:br>
            <a:r>
              <a:rPr lang="en-US" dirty="0"/>
              <a:t>Headline in all caps, Arial Font.</a:t>
            </a:r>
          </a:p>
        </p:txBody>
      </p:sp>
    </p:spTree>
    <p:extLst>
      <p:ext uri="{BB962C8B-B14F-4D97-AF65-F5344CB8AC3E}">
        <p14:creationId xmlns:p14="http://schemas.microsoft.com/office/powerpoint/2010/main" val="181017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*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12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sign&#10;&#10;Description automatically generated">
            <a:extLst>
              <a:ext uri="{FF2B5EF4-FFF2-40B4-BE49-F238E27FC236}">
                <a16:creationId xmlns:a16="http://schemas.microsoft.com/office/drawing/2014/main" id="{033A2C4E-B105-AD4E-8FDE-BD99A58863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4971" y="493109"/>
            <a:ext cx="3456692" cy="897563"/>
          </a:xfrm>
          <a:prstGeom prst="rect">
            <a:avLst/>
          </a:prstGeom>
        </p:spPr>
      </p:pic>
      <p:sp>
        <p:nvSpPr>
          <p:cNvPr id="17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625061" y="766261"/>
            <a:ext cx="7580467" cy="406205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2400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Optional one line subhead, </a:t>
            </a:r>
            <a:r>
              <a:rPr lang="en-US" dirty="0" err="1"/>
              <a:t>url</a:t>
            </a:r>
            <a:r>
              <a:rPr lang="en-US" dirty="0"/>
              <a:t> or date</a:t>
            </a:r>
          </a:p>
        </p:txBody>
      </p:sp>
      <p:sp>
        <p:nvSpPr>
          <p:cNvPr id="8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484969" y="1689100"/>
            <a:ext cx="5707033" cy="2706624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" y="1689100"/>
            <a:ext cx="6484965" cy="2706624"/>
          </a:xfrm>
          <a:solidFill>
            <a:schemeClr val="accent2"/>
          </a:solidFill>
        </p:spPr>
        <p:txBody>
          <a:bodyPr lIns="457200" rIns="91440" anchor="ctr">
            <a:normAutofit/>
          </a:bodyPr>
          <a:lstStyle>
            <a:lvl1pPr>
              <a:defRPr sz="37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-Cover option A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1689100"/>
            <a:ext cx="319619" cy="2706624"/>
          </a:xfrm>
          <a:solidFill>
            <a:schemeClr val="tx2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48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49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</a:t>
            </a:r>
            <a:br>
              <a:rPr lang="en-US" dirty="0"/>
            </a:br>
            <a:r>
              <a:rPr lang="en-US" dirty="0"/>
              <a:t>info if not needed</a:t>
            </a:r>
          </a:p>
        </p:txBody>
      </p:sp>
      <p:sp>
        <p:nvSpPr>
          <p:cNvPr id="54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8480263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r>
              <a:rPr lang="en-US" dirty="0"/>
              <a:t>PRESENTER NAME</a:t>
            </a:r>
          </a:p>
        </p:txBody>
      </p:sp>
      <p:sp>
        <p:nvSpPr>
          <p:cNvPr id="5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8480263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</a:t>
            </a:r>
            <a:br>
              <a:rPr lang="en-US" dirty="0"/>
            </a:br>
            <a:r>
              <a:rPr lang="en-US" dirty="0"/>
              <a:t>info if not needed</a:t>
            </a:r>
          </a:p>
        </p:txBody>
      </p:sp>
      <p:sp>
        <p:nvSpPr>
          <p:cNvPr id="47" name="Text Placeholder 45"/>
          <p:cNvSpPr>
            <a:spLocks noGrp="1"/>
          </p:cNvSpPr>
          <p:nvPr>
            <p:ph type="body" sz="quarter" idx="19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358552" y="-1972722"/>
            <a:ext cx="4670533" cy="13236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Suggested</a:t>
            </a:r>
            <a:r>
              <a:rPr lang="en-US" sz="1867" b="1" baseline="0" dirty="0">
                <a:solidFill>
                  <a:schemeClr val="bg1"/>
                </a:solidFill>
              </a:rPr>
              <a:t> line of text (optional): </a:t>
            </a:r>
          </a:p>
          <a:p>
            <a:endParaRPr lang="en-US" sz="1867" b="1" baseline="0" dirty="0">
              <a:solidFill>
                <a:schemeClr val="bg1"/>
              </a:solidFill>
            </a:endParaRPr>
          </a:p>
          <a:p>
            <a:r>
              <a:rPr lang="en-US" sz="1867" b="1" baseline="0" dirty="0">
                <a:solidFill>
                  <a:schemeClr val="bg1"/>
                </a:solidFill>
              </a:rPr>
              <a:t>WE START WITH YES.</a:t>
            </a:r>
            <a:endParaRPr lang="en-US" sz="1867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6F20EC-1191-F34E-9A74-6242A6193671}"/>
              </a:ext>
            </a:extLst>
          </p:cNvPr>
          <p:cNvSpPr txBox="1"/>
          <p:nvPr/>
        </p:nvSpPr>
        <p:spPr>
          <a:xfrm>
            <a:off x="-1358552" y="-1972722"/>
            <a:ext cx="4670533" cy="13236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Suggested</a:t>
            </a:r>
            <a:r>
              <a:rPr lang="en-US" sz="1867" b="1" baseline="0" dirty="0">
                <a:solidFill>
                  <a:schemeClr val="bg1"/>
                </a:solidFill>
              </a:rPr>
              <a:t> line of text (optional): </a:t>
            </a:r>
          </a:p>
          <a:p>
            <a:endParaRPr lang="en-US" sz="1867" b="1" baseline="0" dirty="0">
              <a:solidFill>
                <a:schemeClr val="bg1"/>
              </a:solidFill>
            </a:endParaRPr>
          </a:p>
          <a:p>
            <a:r>
              <a:rPr lang="en-US" sz="1867" b="1" baseline="0" dirty="0">
                <a:solidFill>
                  <a:schemeClr val="bg1"/>
                </a:solidFill>
              </a:rPr>
              <a:t>WE START WITH YES.</a:t>
            </a:r>
            <a:endParaRPr lang="en-US" sz="1867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91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362DF68-E9A6-3A4D-8807-FED708872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84917"/>
          </a:xfrm>
          <a:prstGeom prst="rect">
            <a:avLst/>
          </a:prstGeom>
        </p:spPr>
      </p:pic>
      <p:sp>
        <p:nvSpPr>
          <p:cNvPr id="8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484969" y="1689100"/>
            <a:ext cx="5707033" cy="2706624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" y="1689100"/>
            <a:ext cx="6484965" cy="2706624"/>
          </a:xfrm>
          <a:solidFill>
            <a:schemeClr val="accent2"/>
          </a:solidFill>
        </p:spPr>
        <p:txBody>
          <a:bodyPr lIns="457200" rIns="91440" anchor="ctr">
            <a:normAutofit/>
          </a:bodyPr>
          <a:lstStyle>
            <a:lvl1pPr>
              <a:defRPr sz="37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-Cover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" y="204953"/>
            <a:ext cx="7802035" cy="1292225"/>
          </a:xfrm>
        </p:spPr>
        <p:txBody>
          <a:bodyPr lIns="457200" rIns="274320" anchor="ctr"/>
          <a:lstStyle>
            <a:lvl1pPr marL="0" indent="0">
              <a:buNone/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Day, 2021</a:t>
            </a:r>
          </a:p>
        </p:txBody>
      </p:sp>
      <p:sp>
        <p:nvSpPr>
          <p:cNvPr id="85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6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8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8480263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0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8480263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1689100"/>
            <a:ext cx="319619" cy="2706624"/>
          </a:xfrm>
          <a:solidFill>
            <a:schemeClr val="tx2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42203-03B0-9B44-A4A6-421ACB9CC571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3" name="Picture 22" descr="A close up of a sign&#10;&#10;Description automatically generated">
            <a:extLst>
              <a:ext uri="{FF2B5EF4-FFF2-40B4-BE49-F238E27FC236}">
                <a16:creationId xmlns:a16="http://schemas.microsoft.com/office/drawing/2014/main" id="{3ED98465-142B-874D-9BEF-93A1086E76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761542-C518-9E4E-BE7F-FE23A2605BA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7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sign&#10;&#10;Description automatically generated">
            <a:extLst>
              <a:ext uri="{FF2B5EF4-FFF2-40B4-BE49-F238E27FC236}">
                <a16:creationId xmlns:a16="http://schemas.microsoft.com/office/drawing/2014/main" id="{7E2FAC2F-5DA3-DF47-A636-2A95DC1252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11088" y="78077"/>
            <a:ext cx="2934760" cy="762039"/>
          </a:xfrm>
          <a:prstGeom prst="rect">
            <a:avLst/>
          </a:prstGeom>
        </p:spPr>
      </p:pic>
      <p:sp>
        <p:nvSpPr>
          <p:cNvPr id="50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endParaRPr lang="en-US" dirty="0"/>
          </a:p>
        </p:txBody>
      </p:sp>
      <p:sp>
        <p:nvSpPr>
          <p:cNvPr id="56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7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5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899575"/>
            <a:ext cx="11901165" cy="276153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3726367"/>
            <a:ext cx="11270539" cy="862880"/>
          </a:xfrm>
        </p:spPr>
        <p:txBody>
          <a:bodyPr lIns="0" rIns="91440" anchor="b">
            <a:normAutofit/>
          </a:bodyPr>
          <a:lstStyle>
            <a:lvl1pPr>
              <a:defRPr sz="3733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presentation title – cover option c 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8480263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4" hasCustomPrompt="1"/>
          </p:nvPr>
        </p:nvSpPr>
        <p:spPr>
          <a:xfrm>
            <a:off x="8480263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626533" y="4589247"/>
            <a:ext cx="11313219" cy="331077"/>
          </a:xfrm>
        </p:spPr>
        <p:txBody>
          <a:bodyPr/>
          <a:lstStyle>
            <a:lvl1pPr marL="0" indent="0">
              <a:buNone/>
              <a:defRPr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– delete if not needed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" y="899573"/>
            <a:ext cx="299452" cy="2761488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70984" y="401282"/>
            <a:ext cx="7979531" cy="441436"/>
          </a:xfrm>
        </p:spPr>
        <p:txBody>
          <a:bodyPr/>
          <a:lstStyle>
            <a:lvl1pPr marL="0" indent="0">
              <a:buNone/>
              <a:defRPr sz="1333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z="1333" b="0" cap="all" dirty="0">
                <a:solidFill>
                  <a:srgbClr val="000000"/>
                </a:solidFill>
              </a:rPr>
              <a:t>Type in Name of </a:t>
            </a:r>
            <a:r>
              <a:rPr lang="en-US" sz="1333" b="0" cap="all" dirty="0" err="1">
                <a:solidFill>
                  <a:srgbClr val="000000"/>
                </a:solidFill>
              </a:rPr>
              <a:t>fACILITY</a:t>
            </a:r>
            <a:r>
              <a:rPr lang="en-US" sz="1333" b="0" cap="all" dirty="0">
                <a:solidFill>
                  <a:srgbClr val="000000"/>
                </a:solidFill>
              </a:rPr>
              <a:t>, division, group, program or </a:t>
            </a:r>
            <a:r>
              <a:rPr lang="en-US" sz="1333" dirty="0">
                <a:solidFill>
                  <a:srgbClr val="000000"/>
                </a:solidFill>
              </a:rPr>
              <a:t>www.anl.gov</a:t>
            </a:r>
          </a:p>
        </p:txBody>
      </p:sp>
      <p:sp>
        <p:nvSpPr>
          <p:cNvPr id="17" name="Text Placeholder 45"/>
          <p:cNvSpPr>
            <a:spLocks noGrp="1"/>
          </p:cNvSpPr>
          <p:nvPr>
            <p:ph type="body" sz="quarter" idx="27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8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sign&#10;&#10;Description automatically generated">
            <a:extLst>
              <a:ext uri="{FF2B5EF4-FFF2-40B4-BE49-F238E27FC236}">
                <a16:creationId xmlns:a16="http://schemas.microsoft.com/office/drawing/2014/main" id="{F98DCACE-65A7-5044-AE4A-0380388C9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17184" y="185519"/>
            <a:ext cx="2934760" cy="762039"/>
          </a:xfrm>
          <a:prstGeom prst="rect">
            <a:avLst/>
          </a:prstGeom>
        </p:spPr>
      </p:pic>
      <p:sp>
        <p:nvSpPr>
          <p:cNvPr id="50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59068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6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7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59068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5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1681607"/>
            <a:ext cx="11901165" cy="276153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5" y="110360"/>
            <a:ext cx="9034837" cy="1119235"/>
          </a:xfrm>
        </p:spPr>
        <p:txBody>
          <a:bodyPr lIns="0" rIns="91440" anchor="b">
            <a:normAutofit/>
          </a:bodyPr>
          <a:lstStyle>
            <a:lvl1pPr>
              <a:defRPr sz="3733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presentation title –</a:t>
            </a:r>
            <a:br>
              <a:rPr lang="en-US" dirty="0"/>
            </a:br>
            <a:r>
              <a:rPr lang="en-US" dirty="0"/>
              <a:t>Cover option D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8480263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4" hasCustomPrompt="1"/>
          </p:nvPr>
        </p:nvSpPr>
        <p:spPr>
          <a:xfrm>
            <a:off x="8480263" y="4959068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626533" y="1229594"/>
            <a:ext cx="11313219" cy="331077"/>
          </a:xfrm>
        </p:spPr>
        <p:txBody>
          <a:bodyPr/>
          <a:lstStyle>
            <a:lvl1pPr marL="0" indent="0">
              <a:buNone/>
              <a:defRPr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– delete if not needed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" y="1681605"/>
            <a:ext cx="299452" cy="2761488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Placeholder 45"/>
          <p:cNvSpPr>
            <a:spLocks noGrp="1"/>
          </p:cNvSpPr>
          <p:nvPr>
            <p:ph type="body" sz="quarter" idx="19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0B74B2-E6E3-1F42-960D-D93F5F6DFFD7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0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Full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7" y="9304"/>
            <a:ext cx="11901164" cy="6858000"/>
          </a:xfrm>
          <a:solidFill>
            <a:schemeClr val="bg1"/>
          </a:solidFill>
        </p:spPr>
        <p:txBody>
          <a:bodyPr lIns="0" tIns="16459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 then right click image and “SEND IMAGE TO BACK”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775200"/>
            <a:ext cx="12192000" cy="2082800"/>
          </a:xfrm>
          <a:solidFill>
            <a:schemeClr val="tx2">
              <a:alpha val="91000"/>
            </a:schemeClr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5" y="5042975"/>
            <a:ext cx="11094720" cy="1373592"/>
          </a:xfrm>
        </p:spPr>
        <p:txBody>
          <a:bodyPr lIns="0" anchor="t"/>
          <a:lstStyle>
            <a:lvl1pPr>
              <a:defRPr sz="3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Full-frame image layout  –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37AC7-5779-EA49-A0D7-9D1B49DA1F37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3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915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7" y="-1"/>
            <a:ext cx="11901164" cy="3656013"/>
          </a:xfrm>
          <a:solidFill>
            <a:schemeClr val="bg1"/>
          </a:solidFill>
        </p:spPr>
        <p:txBody>
          <a:bodyPr lIns="0"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53384"/>
            <a:ext cx="11565467" cy="787099"/>
          </a:xfrm>
        </p:spPr>
        <p:txBody>
          <a:bodyPr lIns="0"/>
          <a:lstStyle>
            <a:lvl1pPr>
              <a:defRPr sz="3733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one image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64664-6AC5-4D43-A5BA-3C65A0CD272B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8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1"/>
            <a:ext cx="5974080" cy="3663951"/>
          </a:xfrm>
          <a:solidFill>
            <a:schemeClr val="bg1">
              <a:lumMod val="75000"/>
            </a:schemeClr>
          </a:solidFill>
        </p:spPr>
        <p:txBody>
          <a:bodyPr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243367" y="1"/>
            <a:ext cx="5974080" cy="3663951"/>
          </a:xfrm>
          <a:solidFill>
            <a:schemeClr val="bg1">
              <a:lumMod val="85000"/>
            </a:schemeClr>
          </a:solidFill>
        </p:spPr>
        <p:txBody>
          <a:bodyPr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40684"/>
            <a:ext cx="11565467" cy="787099"/>
          </a:xfrm>
        </p:spPr>
        <p:txBody>
          <a:bodyPr lIns="0"/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TWO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788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D6018-DDBA-E84D-A7DB-865142558636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7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THRE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0"/>
            <a:ext cx="3986784" cy="367364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258983" y="0"/>
            <a:ext cx="3986784" cy="367364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8149" y="0"/>
            <a:ext cx="3943851" cy="367364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915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53384"/>
            <a:ext cx="11565467" cy="787099"/>
          </a:xfrm>
        </p:spPr>
        <p:txBody>
          <a:bodyPr lIns="0"/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Three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7FFC8-1032-3A40-A0C9-227A67AABE6E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25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FOUR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1654175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270980" y="1654175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251121" y="1654175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08029" y="1654175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46454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four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90838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256794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241420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207377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>
          <a:xfrm>
            <a:off x="0" y="-1"/>
            <a:ext cx="3048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15DA8-4650-8A4E-B3B2-622DC8056A60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92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058C-A0FA-2C4C-B4AB-8132A1BD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E5DC-A265-5E43-9C9D-8E563D9C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32045-0A27-7843-B048-176DEA19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85F98-4160-8D46-AAFD-B3D71A46224E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46D4-22A8-C44B-80DD-A17000C4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9725-494C-624A-8FF3-D65ED2B9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603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40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-1"/>
            <a:ext cx="12191999" cy="5984917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9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" y="-14245"/>
            <a:ext cx="12191999" cy="5999161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7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7902345-CDF3-E24C-86E4-4C9E2CC4D6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9"/>
          <a:stretch/>
        </p:blipFill>
        <p:spPr>
          <a:xfrm>
            <a:off x="0" y="-14245"/>
            <a:ext cx="12192000" cy="5984917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" y="-14245"/>
            <a:ext cx="12191999" cy="5999161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F5BFF999-B145-1C46-8778-9949300170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A24FD3-8F0E-DF4F-8C2E-F6970F4CAF4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6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84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F4CFF5-2A2E-8945-9027-39964E4B3E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4246"/>
            <a:ext cx="12192000" cy="599916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1"/>
            <a:ext cx="12191999" cy="5970669"/>
          </a:xfrm>
          <a:noFill/>
        </p:spPr>
        <p:txBody>
          <a:bodyPr lIns="457200" tIns="0" bIns="457200" anchor="ctr"/>
          <a:lstStyle>
            <a:lvl1pPr marL="0" indent="0">
              <a:buNone/>
              <a:defRPr sz="3733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in SECTION BREAK TITLE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0D23278-3667-1F4A-8304-61669185B1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0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80326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60379"/>
            <a:ext cx="11163868" cy="442277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491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2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itle Onl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78098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TITLE AND CONTENT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4467" y="1445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9CDC428E-DBB5-1649-8291-2FA82A5C9E82}"/>
              </a:ext>
            </a:extLst>
          </p:cNvPr>
          <p:cNvGrpSpPr/>
          <p:nvPr/>
        </p:nvGrpSpPr>
        <p:grpSpPr>
          <a:xfrm>
            <a:off x="558799" y="1854200"/>
            <a:ext cx="11026501" cy="4419600"/>
            <a:chOff x="419099" y="1390650"/>
            <a:chExt cx="8269876" cy="33147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1F8818-1FE6-2341-BE7A-993CECC5541D}"/>
                </a:ext>
              </a:extLst>
            </p:cNvPr>
            <p:cNvSpPr/>
            <p:nvPr/>
          </p:nvSpPr>
          <p:spPr>
            <a:xfrm>
              <a:off x="419100" y="1390650"/>
              <a:ext cx="4045324" cy="22290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SPONSOR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B991B3-C8CA-5842-83B0-825B25C421FB}"/>
                </a:ext>
              </a:extLst>
            </p:cNvPr>
            <p:cNvSpPr/>
            <p:nvPr/>
          </p:nvSpPr>
          <p:spPr>
            <a:xfrm>
              <a:off x="4643651" y="1390650"/>
              <a:ext cx="4045324" cy="22290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FUNDING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CDC5DB-87A9-9449-8FD5-702421FEB657}"/>
                </a:ext>
              </a:extLst>
            </p:cNvPr>
            <p:cNvSpPr/>
            <p:nvPr/>
          </p:nvSpPr>
          <p:spPr>
            <a:xfrm>
              <a:off x="419099" y="1765436"/>
              <a:ext cx="3493227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DESCRIPTION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Current projects exploring: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Identification and fingerprinting of electronic control units using ML/DL/AI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Creation of a vehicle simulation testbed 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Creation of a automotive mobility testbed to safely test resilience measures such as sensor fusion</a:t>
              </a:r>
            </a:p>
            <a:p>
              <a:pPr marL="160863" indent="-16086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Threat modeling, </a:t>
              </a:r>
              <a:r>
                <a:rPr lang="en-US" sz="1600" dirty="0" err="1">
                  <a:solidFill>
                    <a:schemeClr val="tx1"/>
                  </a:solidFill>
                </a:rPr>
                <a:t>pentesting</a:t>
              </a:r>
              <a:r>
                <a:rPr lang="en-US" sz="1600" dirty="0">
                  <a:solidFill>
                    <a:schemeClr val="tx1"/>
                  </a:solidFill>
                </a:rPr>
                <a:t>, and risk analysis of vehicle to grid infrastructure (EVSE/</a:t>
              </a:r>
              <a:r>
                <a:rPr lang="en-US" sz="1600" dirty="0" err="1">
                  <a:solidFill>
                    <a:schemeClr val="tx1"/>
                  </a:solidFill>
                </a:rPr>
                <a:t>xFC</a:t>
              </a:r>
              <a:r>
                <a:rPr lang="en-US" sz="1600" dirty="0">
                  <a:solidFill>
                    <a:schemeClr val="tx1"/>
                  </a:solidFill>
                </a:rPr>
                <a:t>)</a:t>
              </a:r>
            </a:p>
            <a:p>
              <a:endParaRPr lang="en-US" sz="16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433469-4EFE-E542-978B-1448E472CC26}"/>
                </a:ext>
              </a:extLst>
            </p:cNvPr>
            <p:cNvSpPr/>
            <p:nvPr/>
          </p:nvSpPr>
          <p:spPr>
            <a:xfrm>
              <a:off x="4054358" y="1765436"/>
              <a:ext cx="2185332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RESULTS</a:t>
              </a:r>
            </a:p>
            <a:p>
              <a:pPr marL="152396" indent="-152396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Deliverables include simulation testbed software, physical testbed, industry papers, DOE white papers</a:t>
              </a:r>
            </a:p>
            <a:p>
              <a:pPr marL="152396" indent="-152396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Results will impact current charging infrastructure deployment and shape secure architectures and policy</a:t>
              </a:r>
            </a:p>
            <a:p>
              <a:endParaRPr lang="en-US" sz="1600" b="1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54D32-AD25-E741-99D1-1FFB7CFA218F}"/>
                </a:ext>
              </a:extLst>
            </p:cNvPr>
            <p:cNvSpPr/>
            <p:nvPr/>
          </p:nvSpPr>
          <p:spPr>
            <a:xfrm>
              <a:off x="6392591" y="1765436"/>
              <a:ext cx="2296383" cy="2179547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600" b="1" dirty="0"/>
                <a:t>CONTRIBUTION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Techniques and tools developed apply to heavy vehicles which impact critical infrastructure, military operations, and commerce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C35AC7-582F-7D4E-ADFB-FDB003388826}"/>
                </a:ext>
              </a:extLst>
            </p:cNvPr>
            <p:cNvSpPr/>
            <p:nvPr/>
          </p:nvSpPr>
          <p:spPr>
            <a:xfrm>
              <a:off x="419100" y="4098842"/>
              <a:ext cx="4045324" cy="606508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ARGONNE CAPABILITIES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101D9A-0D44-9848-B7BE-578BE7238C03}"/>
                </a:ext>
              </a:extLst>
            </p:cNvPr>
            <p:cNvSpPr/>
            <p:nvPr/>
          </p:nvSpPr>
          <p:spPr>
            <a:xfrm>
              <a:off x="4643651" y="4098842"/>
              <a:ext cx="4045324" cy="606508"/>
            </a:xfrm>
            <a:prstGeom prst="rect">
              <a:avLst/>
            </a:prstGeom>
            <a:solidFill>
              <a:schemeClr val="accent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/>
                <a:t>FUTURE OUTLOOK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430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*Titl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478098"/>
            <a:ext cx="11163868" cy="828948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TITLE AND CONTENT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4467" y="1445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6A010B-81D1-D941-BDE7-50CB6BFE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859176"/>
              </p:ext>
            </p:extLst>
          </p:nvPr>
        </p:nvGraphicFramePr>
        <p:xfrm>
          <a:off x="609600" y="2024327"/>
          <a:ext cx="11163867" cy="427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967">
                  <a:extLst>
                    <a:ext uri="{9D8B030D-6E8A-4147-A177-3AD203B41FA5}">
                      <a16:colId xmlns:a16="http://schemas.microsoft.com/office/drawing/2014/main" val="953177877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3184500041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3933062838"/>
                    </a:ext>
                  </a:extLst>
                </a:gridCol>
                <a:gridCol w="2790967">
                  <a:extLst>
                    <a:ext uri="{9D8B030D-6E8A-4147-A177-3AD203B41FA5}">
                      <a16:colId xmlns:a16="http://schemas.microsoft.com/office/drawing/2014/main" val="434370605"/>
                    </a:ext>
                  </a:extLst>
                </a:gridCol>
              </a:tblGrid>
              <a:tr h="1424161"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385294"/>
                  </a:ext>
                </a:extLst>
              </a:tr>
              <a:tr h="1424161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461716"/>
                  </a:ext>
                </a:extLst>
              </a:tr>
              <a:tr h="1424161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3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05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olumns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61017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1862909"/>
            <a:ext cx="5364480" cy="4422775"/>
          </a:xfrm>
        </p:spPr>
        <p:txBody>
          <a:bodyPr/>
          <a:lstStyle>
            <a:lvl1pPr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67451" y="1862909"/>
            <a:ext cx="5364480" cy="4422775"/>
          </a:xfrm>
        </p:spPr>
        <p:txBody>
          <a:bodyPr/>
          <a:lstStyle>
            <a:lvl1pPr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</p:spTree>
    <p:extLst>
      <p:ext uri="{BB962C8B-B14F-4D97-AF65-F5344CB8AC3E}">
        <p14:creationId xmlns:p14="http://schemas.microsoft.com/office/powerpoint/2010/main" val="209812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olumns-TWO w/boxed 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14527" y="2454269"/>
            <a:ext cx="5486400" cy="3835883"/>
          </a:xfrm>
          <a:ln>
            <a:solidFill>
              <a:schemeClr val="bg1">
                <a:lumMod val="50000"/>
              </a:schemeClr>
            </a:solidFill>
          </a:ln>
        </p:spPr>
        <p:txBody>
          <a:bodyPr lIns="182880" tIns="91440" rIns="91440"/>
          <a:lstStyle>
            <a:lvl1pPr>
              <a:defRPr sz="2400"/>
            </a:lvl1pPr>
            <a:lvl2pPr marL="609585" indent="-230712"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6500" y="2454269"/>
            <a:ext cx="5486400" cy="3835883"/>
          </a:xfrm>
          <a:ln>
            <a:solidFill>
              <a:schemeClr val="bg1">
                <a:lumMod val="50000"/>
              </a:schemeClr>
            </a:solidFill>
          </a:ln>
        </p:spPr>
        <p:txBody>
          <a:bodyPr lIns="182880" tIns="91440" rIns="91440"/>
          <a:lstStyle>
            <a:lvl1pPr>
              <a:defRPr sz="2400"/>
            </a:lvl1pPr>
            <a:lvl2pPr marL="609585" indent="-230712">
              <a:defRPr sz="2400"/>
            </a:lvl2pPr>
            <a:lvl3pPr marL="836063" indent="-171446">
              <a:defRPr sz="2400"/>
            </a:lvl3pPr>
            <a:lvl4pPr marL="1153555" indent="-228594">
              <a:defRPr sz="2400"/>
            </a:lvl4pPr>
            <a:lvl5pPr marL="1445648" indent="-228594"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86500" y="1874730"/>
            <a:ext cx="5486400" cy="620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</p:spPr>
        <p:txBody>
          <a:bodyPr lIns="182880" bIns="0" anchor="ctr"/>
          <a:lstStyle>
            <a:lvl1pPr marL="0" indent="0" algn="l">
              <a:lnSpc>
                <a:spcPct val="100000"/>
              </a:lnSpc>
              <a:buNone/>
              <a:defRPr sz="2400" b="1" cap="all" baseline="0">
                <a:solidFill>
                  <a:schemeClr val="bg1"/>
                </a:solidFill>
              </a:defRPr>
            </a:lvl1pPr>
            <a:lvl2pPr marL="609585" indent="-230712">
              <a:defRPr sz="2133"/>
            </a:lvl2pPr>
            <a:lvl3pPr marL="836063" indent="-171446">
              <a:defRPr sz="1867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  <a:noFill/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14527" y="1874730"/>
            <a:ext cx="5486400" cy="620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</a:ln>
          <a:effectLst/>
        </p:spPr>
        <p:txBody>
          <a:bodyPr lIns="182880" bIns="0" anchor="ctr"/>
          <a:lstStyle>
            <a:lvl1pPr marL="0" indent="0" algn="l">
              <a:lnSpc>
                <a:spcPct val="100000"/>
              </a:lnSpc>
              <a:buNone/>
              <a:defRPr sz="2400" b="1" cap="all" baseline="0">
                <a:solidFill>
                  <a:schemeClr val="bg1"/>
                </a:solidFill>
              </a:defRPr>
            </a:lvl1pPr>
            <a:lvl2pPr marL="609585" indent="-230712">
              <a:defRPr sz="2133"/>
            </a:lvl2pPr>
            <a:lvl3pPr marL="836063" indent="-171446">
              <a:defRPr sz="1867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Two-column CONTENT slide</a:t>
            </a:r>
            <a:br>
              <a:rPr lang="en-US" dirty="0"/>
            </a:br>
            <a:r>
              <a:rPr lang="en-US" dirty="0"/>
              <a:t>with box treatment</a:t>
            </a:r>
          </a:p>
        </p:txBody>
      </p:sp>
    </p:spTree>
    <p:extLst>
      <p:ext uri="{BB962C8B-B14F-4D97-AF65-F5344CB8AC3E}">
        <p14:creationId xmlns:p14="http://schemas.microsoft.com/office/powerpoint/2010/main" val="159735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04767" y="1890496"/>
            <a:ext cx="5759667" cy="2054443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7" y="1890495"/>
            <a:ext cx="4972641" cy="2087843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60907" y="4271088"/>
            <a:ext cx="4972641" cy="2087843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VERTICAL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6004767" y="4257459"/>
            <a:ext cx="5759667" cy="2054443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A0AD6-33FE-814B-87A9-4E608B8F74A5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4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HREE IMAGE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0412" y="1934727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52525" y="1923614"/>
            <a:ext cx="2698328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49354" y="3493608"/>
            <a:ext cx="2704676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THREE IMAGES – VERTICAL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060412" y="3507968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49353" y="5076181"/>
            <a:ext cx="2704676" cy="1186811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060412" y="5059321"/>
            <a:ext cx="7753216" cy="1303379"/>
          </a:xfrm>
        </p:spPr>
        <p:txBody>
          <a:bodyPr tIns="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308E4-C478-8B4F-9CF3-FE905CC5EAE2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9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top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51643" y="4188849"/>
            <a:ext cx="5486400" cy="2129163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8" y="4188849"/>
            <a:ext cx="5463447" cy="2129163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5" y="189049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278733" y="189049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top HORIZONTAL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C047F-7504-6040-9A50-9037B6706A1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57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IMAGES - Bottom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5853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1877796"/>
            <a:ext cx="5486400" cy="1717079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7" y="1877796"/>
            <a:ext cx="5486400" cy="1717079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400"/>
            </a:lvl4pPr>
            <a:lvl5pPr marL="1445648" indent="-228594">
              <a:spcBef>
                <a:spcPts val="0"/>
              </a:spcBef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18861" y="361511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27432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307819" y="3615115"/>
            <a:ext cx="5364480" cy="2286000"/>
          </a:xfrm>
          <a:solidFill>
            <a:schemeClr val="bg1">
              <a:lumMod val="75000"/>
            </a:schemeClr>
          </a:solidFill>
        </p:spPr>
        <p:txBody>
          <a:bodyPr tIns="27432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IMAGES – bottom HORIZONTAL</a:t>
            </a:r>
            <a:br>
              <a:rPr lang="en-US" dirty="0"/>
            </a:br>
            <a:r>
              <a:rPr lang="en-US" dirty="0"/>
              <a:t>WITH CAPTIONS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635022" y="5912892"/>
            <a:ext cx="5327631" cy="47876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6333721" y="5925592"/>
            <a:ext cx="5327631" cy="47876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28104-5CD7-CF40-A1CE-EA92AC64A19C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7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WO LRG IMAGES - top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51643" y="5475819"/>
            <a:ext cx="5486400" cy="915835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288288" y="5475819"/>
            <a:ext cx="5463447" cy="915835"/>
          </a:xfrm>
        </p:spPr>
        <p:txBody>
          <a:bodyPr tIns="91440"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spcBef>
                <a:spcPts val="0"/>
              </a:spcBef>
              <a:defRPr sz="2133"/>
            </a:lvl4pPr>
            <a:lvl5pPr marL="1445648" indent="-228594">
              <a:spcBef>
                <a:spcPts val="0"/>
              </a:spcBef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660905" y="1894417"/>
            <a:ext cx="5364480" cy="35814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6278733" y="1894417"/>
            <a:ext cx="5364480" cy="3581400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TWO Large IMAGES w/bullets 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72CC85-1438-5F42-9179-3C81994D43C3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60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 -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02173" y="1889396"/>
            <a:ext cx="5053832" cy="3744153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2173" y="5675246"/>
            <a:ext cx="5120640" cy="585031"/>
          </a:xfrm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 IMAGES with captions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6" name="Picture Placeholder 4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353507" y="1888617"/>
            <a:ext cx="5053832" cy="3744153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353507" y="5674467"/>
            <a:ext cx="5120640" cy="585031"/>
          </a:xfrm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Image Caption </a:t>
            </a:r>
          </a:p>
          <a:p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948071-63C1-4747-86E2-6482665F5BC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23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85427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61172" y="3806613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508115" y="3806613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70772" y="1887594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17715" y="1887594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8348928" y="3809112"/>
            <a:ext cx="3287445" cy="2146611"/>
          </a:xfrm>
        </p:spPr>
        <p:txBody>
          <a:bodyPr/>
          <a:lstStyle>
            <a:lvl1pPr>
              <a:spcBef>
                <a:spcPts val="800"/>
              </a:spcBef>
              <a:defRPr sz="2400"/>
            </a:lvl1pPr>
            <a:lvl2pPr marL="609585" indent="-230712">
              <a:spcBef>
                <a:spcPts val="0"/>
              </a:spcBef>
              <a:defRPr sz="2400"/>
            </a:lvl2pPr>
            <a:lvl3pPr marL="836063" indent="-171446">
              <a:spcBef>
                <a:spcPts val="0"/>
              </a:spcBef>
              <a:defRPr sz="2400"/>
            </a:lvl3pPr>
            <a:lvl4pPr marL="1153555" indent="-228594">
              <a:defRPr sz="1600"/>
            </a:lvl4pPr>
            <a:lvl5pPr marL="1445648" indent="-228594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8358528" y="1890093"/>
            <a:ext cx="3148325" cy="182057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THREE IMAGES – HORIZONTAL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9CC6B-2983-0D4D-82B9-F1A10E59F7C8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88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s/bullets -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1891973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270980" y="1891973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251121" y="1891973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08029" y="1891973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4896695"/>
            <a:ext cx="11246069" cy="1448440"/>
          </a:xfrm>
          <a:noFill/>
        </p:spPr>
        <p:txBody>
          <a:bodyPr lIns="0" tIns="91440"/>
          <a:lstStyle>
            <a:lvl1pPr>
              <a:defRPr sz="2667">
                <a:solidFill>
                  <a:srgbClr val="000000"/>
                </a:solidFill>
              </a:defRPr>
            </a:lvl1pPr>
            <a:lvl2pPr>
              <a:defRPr sz="2667">
                <a:solidFill>
                  <a:srgbClr val="000000"/>
                </a:solidFill>
              </a:defRPr>
            </a:lvl2pPr>
            <a:lvl3pPr>
              <a:defRPr sz="2667">
                <a:solidFill>
                  <a:srgbClr val="000000"/>
                </a:solidFill>
              </a:defRPr>
            </a:lvl3pPr>
            <a:lvl4pPr>
              <a:defRPr sz="2667">
                <a:solidFill>
                  <a:srgbClr val="000000"/>
                </a:solidFill>
              </a:defRPr>
            </a:lvl4pPr>
            <a:lvl5pPr>
              <a:defRPr sz="2667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609585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733" b="1" i="0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four images, captions and bullets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90838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256794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241420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207377" y="4169561"/>
            <a:ext cx="2984625" cy="477837"/>
          </a:xfrm>
          <a:noFill/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  <a:ln>
            <a:noFill/>
          </a:ln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864AA-5B21-8540-84EC-C73D123264E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23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PICS/caption -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four IMAGES with captions</a:t>
            </a:r>
            <a:br>
              <a:rPr lang="en-US" dirty="0"/>
            </a:br>
            <a:r>
              <a:rPr lang="en-US" dirty="0"/>
              <a:t>Headline in </a:t>
            </a:r>
            <a:r>
              <a:rPr lang="en-US" dirty="0" err="1"/>
              <a:t>arial</a:t>
            </a:r>
            <a:r>
              <a:rPr lang="en-US" dirty="0"/>
              <a:t> and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50"/>
            <a:ext cx="11163868" cy="276999"/>
          </a:xfrm>
          <a:ln>
            <a:noFill/>
          </a:ln>
        </p:spPr>
        <p:txBody>
          <a:bodyPr b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49916" y="1894418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916" y="3763178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18" name="Picture Placeholder 4"/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549909" y="1894418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6549909" y="3763178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0" name="Picture Placeholder 4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49916" y="4130201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649916" y="6003566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4" name="Picture Placeholder 4"/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549909" y="4130201"/>
            <a:ext cx="5053832" cy="1844567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6549909" y="6007357"/>
            <a:ext cx="5120640" cy="368183"/>
          </a:xfrm>
          <a:ln>
            <a:noFill/>
          </a:ln>
        </p:spPr>
        <p:txBody>
          <a:bodyPr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0" cap="none" baseline="0"/>
            </a:lvl1pPr>
          </a:lstStyle>
          <a:p>
            <a:r>
              <a:rPr lang="en-US" dirty="0"/>
              <a:t>Image Caption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49AAE-F040-DC4F-B49E-873371F2F039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8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*Charts, Graphs,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graph, chart or table slide. </a:t>
            </a:r>
            <a:br>
              <a:rPr lang="en-US" dirty="0"/>
            </a:br>
            <a:r>
              <a:rPr lang="en-US" dirty="0"/>
              <a:t>Headline in all caps, Arial Font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2" y="1890105"/>
            <a:ext cx="11163868" cy="4029859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an icon below to add a chart, graph, or table.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2" y="1359249"/>
            <a:ext cx="11163868" cy="499715"/>
          </a:xfrm>
        </p:spPr>
        <p:txBody>
          <a:bodyPr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67" b="1">
                <a:solidFill>
                  <a:srgbClr val="0065A2"/>
                </a:solidFill>
              </a:defRPr>
            </a:lvl1pPr>
          </a:lstStyle>
          <a:p>
            <a:r>
              <a:rPr lang="en-US" dirty="0"/>
              <a:t>Slide subtitle optional -  delete as needed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591431" y="5943817"/>
            <a:ext cx="4948052" cy="320995"/>
          </a:xfrm>
        </p:spPr>
        <p:txBody>
          <a:bodyPr bIns="0" anchor="t" anchorCtr="0"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794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6723"/>
            <a:ext cx="12192000" cy="6864724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515940"/>
            <a:ext cx="11163868" cy="806017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CONTENT SLIDE. </a:t>
            </a:r>
            <a:br>
              <a:rPr lang="en-US" dirty="0"/>
            </a:br>
            <a:r>
              <a:rPr lang="en-US" dirty="0"/>
              <a:t>Headline in all caps, Arial Font.</a:t>
            </a:r>
          </a:p>
        </p:txBody>
      </p:sp>
    </p:spTree>
    <p:extLst>
      <p:ext uri="{BB962C8B-B14F-4D97-AF65-F5344CB8AC3E}">
        <p14:creationId xmlns:p14="http://schemas.microsoft.com/office/powerpoint/2010/main" val="170469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*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34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sign&#10;&#10;Description automatically generated">
            <a:extLst>
              <a:ext uri="{FF2B5EF4-FFF2-40B4-BE49-F238E27FC236}">
                <a16:creationId xmlns:a16="http://schemas.microsoft.com/office/drawing/2014/main" id="{033A2C4E-B105-AD4E-8FDE-BD99A58863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34971" y="493109"/>
            <a:ext cx="3456692" cy="897563"/>
          </a:xfrm>
          <a:prstGeom prst="rect">
            <a:avLst/>
          </a:prstGeom>
        </p:spPr>
      </p:pic>
      <p:sp>
        <p:nvSpPr>
          <p:cNvPr id="17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625061" y="766261"/>
            <a:ext cx="7580467" cy="406205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2400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Optional one line subhead, </a:t>
            </a:r>
            <a:r>
              <a:rPr lang="en-US" dirty="0" err="1"/>
              <a:t>url</a:t>
            </a:r>
            <a:r>
              <a:rPr lang="en-US" dirty="0"/>
              <a:t> or date</a:t>
            </a:r>
          </a:p>
        </p:txBody>
      </p:sp>
      <p:sp>
        <p:nvSpPr>
          <p:cNvPr id="8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484969" y="1689100"/>
            <a:ext cx="5707033" cy="2706624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" y="1689100"/>
            <a:ext cx="6484965" cy="2706624"/>
          </a:xfrm>
          <a:solidFill>
            <a:schemeClr val="accent2"/>
          </a:solidFill>
        </p:spPr>
        <p:txBody>
          <a:bodyPr lIns="457200" rIns="91440" anchor="ctr">
            <a:normAutofit/>
          </a:bodyPr>
          <a:lstStyle>
            <a:lvl1pPr>
              <a:defRPr sz="37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-Cover option A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1689100"/>
            <a:ext cx="319619" cy="2706624"/>
          </a:xfrm>
          <a:solidFill>
            <a:schemeClr val="tx2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48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49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</a:t>
            </a:r>
            <a:br>
              <a:rPr lang="en-US" dirty="0"/>
            </a:br>
            <a:r>
              <a:rPr lang="en-US" dirty="0"/>
              <a:t>info if not needed</a:t>
            </a:r>
          </a:p>
        </p:txBody>
      </p:sp>
      <p:sp>
        <p:nvSpPr>
          <p:cNvPr id="54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8480263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r>
              <a:rPr lang="en-US" dirty="0"/>
              <a:t>PRESENTER NAME</a:t>
            </a:r>
          </a:p>
        </p:txBody>
      </p:sp>
      <p:sp>
        <p:nvSpPr>
          <p:cNvPr id="5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8480263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</a:t>
            </a:r>
            <a:br>
              <a:rPr lang="en-US" dirty="0"/>
            </a:br>
            <a:r>
              <a:rPr lang="en-US" dirty="0"/>
              <a:t>info if not needed</a:t>
            </a:r>
          </a:p>
        </p:txBody>
      </p:sp>
      <p:sp>
        <p:nvSpPr>
          <p:cNvPr id="47" name="Text Placeholder 45"/>
          <p:cNvSpPr>
            <a:spLocks noGrp="1"/>
          </p:cNvSpPr>
          <p:nvPr>
            <p:ph type="body" sz="quarter" idx="19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358552" y="-1972722"/>
            <a:ext cx="4670533" cy="13236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Suggested</a:t>
            </a:r>
            <a:r>
              <a:rPr lang="en-US" sz="1867" b="1" baseline="0" dirty="0">
                <a:solidFill>
                  <a:schemeClr val="bg1"/>
                </a:solidFill>
              </a:rPr>
              <a:t> line of text (optional): </a:t>
            </a:r>
          </a:p>
          <a:p>
            <a:endParaRPr lang="en-US" sz="1867" b="1" baseline="0" dirty="0">
              <a:solidFill>
                <a:schemeClr val="bg1"/>
              </a:solidFill>
            </a:endParaRPr>
          </a:p>
          <a:p>
            <a:r>
              <a:rPr lang="en-US" sz="1867" b="1" baseline="0" dirty="0">
                <a:solidFill>
                  <a:schemeClr val="bg1"/>
                </a:solidFill>
              </a:rPr>
              <a:t>WE START WITH YES.</a:t>
            </a:r>
            <a:endParaRPr lang="en-US" sz="1867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6F20EC-1191-F34E-9A74-6242A6193671}"/>
              </a:ext>
            </a:extLst>
          </p:cNvPr>
          <p:cNvSpPr txBox="1"/>
          <p:nvPr/>
        </p:nvSpPr>
        <p:spPr>
          <a:xfrm>
            <a:off x="-1358552" y="-1972722"/>
            <a:ext cx="4670533" cy="13236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Suggested</a:t>
            </a:r>
            <a:r>
              <a:rPr lang="en-US" sz="1867" b="1" baseline="0" dirty="0">
                <a:solidFill>
                  <a:schemeClr val="bg1"/>
                </a:solidFill>
              </a:rPr>
              <a:t> line of text (optional): </a:t>
            </a:r>
          </a:p>
          <a:p>
            <a:endParaRPr lang="en-US" sz="1867" b="1" baseline="0" dirty="0">
              <a:solidFill>
                <a:schemeClr val="bg1"/>
              </a:solidFill>
            </a:endParaRPr>
          </a:p>
          <a:p>
            <a:r>
              <a:rPr lang="en-US" sz="1867" b="1" baseline="0" dirty="0">
                <a:solidFill>
                  <a:schemeClr val="bg1"/>
                </a:solidFill>
              </a:rPr>
              <a:t>WE START WITH YES.</a:t>
            </a:r>
            <a:endParaRPr lang="en-US" sz="1867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2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362DF68-E9A6-3A4D-8807-FED708872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84917"/>
          </a:xfrm>
          <a:prstGeom prst="rect">
            <a:avLst/>
          </a:prstGeom>
        </p:spPr>
      </p:pic>
      <p:sp>
        <p:nvSpPr>
          <p:cNvPr id="8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484969" y="1689100"/>
            <a:ext cx="5707033" cy="2706624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" y="1689100"/>
            <a:ext cx="6484965" cy="2706624"/>
          </a:xfrm>
          <a:solidFill>
            <a:schemeClr val="accent2"/>
          </a:solidFill>
        </p:spPr>
        <p:txBody>
          <a:bodyPr lIns="457200" rIns="91440" anchor="ctr">
            <a:normAutofit/>
          </a:bodyPr>
          <a:lstStyle>
            <a:lvl1pPr>
              <a:defRPr sz="37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-Cover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" y="204953"/>
            <a:ext cx="7802035" cy="1292225"/>
          </a:xfrm>
        </p:spPr>
        <p:txBody>
          <a:bodyPr lIns="457200" rIns="274320" anchor="ctr"/>
          <a:lstStyle>
            <a:lvl1pPr marL="0" indent="0">
              <a:buNone/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 Day, 2021</a:t>
            </a:r>
          </a:p>
        </p:txBody>
      </p:sp>
      <p:sp>
        <p:nvSpPr>
          <p:cNvPr id="85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6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8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8480263" y="4582947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0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8480263" y="4960384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chemeClr val="bg1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1689100"/>
            <a:ext cx="319619" cy="2706624"/>
          </a:xfrm>
          <a:solidFill>
            <a:schemeClr val="tx2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42203-03B0-9B44-A4A6-421ACB9CC571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3" name="Picture 22" descr="A close up of a sign&#10;&#10;Description automatically generated">
            <a:extLst>
              <a:ext uri="{FF2B5EF4-FFF2-40B4-BE49-F238E27FC236}">
                <a16:creationId xmlns:a16="http://schemas.microsoft.com/office/drawing/2014/main" id="{3ED98465-142B-874D-9BEF-93A1086E76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1225" y="6047181"/>
            <a:ext cx="2989433" cy="7762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761542-C518-9E4E-BE7F-FE23A2605BA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1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sign&#10;&#10;Description automatically generated">
            <a:extLst>
              <a:ext uri="{FF2B5EF4-FFF2-40B4-BE49-F238E27FC236}">
                <a16:creationId xmlns:a16="http://schemas.microsoft.com/office/drawing/2014/main" id="{7E2FAC2F-5DA3-DF47-A636-2A95DC1252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11088" y="78077"/>
            <a:ext cx="2934760" cy="762039"/>
          </a:xfrm>
          <a:prstGeom prst="rect">
            <a:avLst/>
          </a:prstGeom>
        </p:spPr>
      </p:pic>
      <p:sp>
        <p:nvSpPr>
          <p:cNvPr id="50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endParaRPr lang="en-US" dirty="0"/>
          </a:p>
        </p:txBody>
      </p:sp>
      <p:sp>
        <p:nvSpPr>
          <p:cNvPr id="56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7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5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899575"/>
            <a:ext cx="11901165" cy="276153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3726367"/>
            <a:ext cx="11270539" cy="862880"/>
          </a:xfrm>
        </p:spPr>
        <p:txBody>
          <a:bodyPr lIns="0" rIns="91440" anchor="b">
            <a:normAutofit/>
          </a:bodyPr>
          <a:lstStyle>
            <a:lvl1pPr>
              <a:defRPr sz="3733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presentation title – cover option c 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8480263" y="4945566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4" hasCustomPrompt="1"/>
          </p:nvPr>
        </p:nvSpPr>
        <p:spPr>
          <a:xfrm>
            <a:off x="8480263" y="5323001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626533" y="4589247"/>
            <a:ext cx="11313219" cy="331077"/>
          </a:xfrm>
        </p:spPr>
        <p:txBody>
          <a:bodyPr/>
          <a:lstStyle>
            <a:lvl1pPr marL="0" indent="0">
              <a:buNone/>
              <a:defRPr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– delete if not needed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" y="899573"/>
            <a:ext cx="299452" cy="2761488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670984" y="401282"/>
            <a:ext cx="7979531" cy="441436"/>
          </a:xfrm>
        </p:spPr>
        <p:txBody>
          <a:bodyPr/>
          <a:lstStyle>
            <a:lvl1pPr marL="0" indent="0">
              <a:buNone/>
              <a:defRPr sz="1333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z="1333" b="0" cap="all" dirty="0">
                <a:solidFill>
                  <a:srgbClr val="000000"/>
                </a:solidFill>
              </a:rPr>
              <a:t>Type in Name of </a:t>
            </a:r>
            <a:r>
              <a:rPr lang="en-US" sz="1333" b="0" cap="all" dirty="0" err="1">
                <a:solidFill>
                  <a:srgbClr val="000000"/>
                </a:solidFill>
              </a:rPr>
              <a:t>fACILITY</a:t>
            </a:r>
            <a:r>
              <a:rPr lang="en-US" sz="1333" b="0" cap="all" dirty="0">
                <a:solidFill>
                  <a:srgbClr val="000000"/>
                </a:solidFill>
              </a:rPr>
              <a:t>, division, group, program or </a:t>
            </a:r>
            <a:r>
              <a:rPr lang="en-US" sz="1333" dirty="0">
                <a:solidFill>
                  <a:srgbClr val="000000"/>
                </a:solidFill>
              </a:rPr>
              <a:t>www.anl.gov</a:t>
            </a:r>
          </a:p>
        </p:txBody>
      </p:sp>
      <p:sp>
        <p:nvSpPr>
          <p:cNvPr id="17" name="Text Placeholder 45"/>
          <p:cNvSpPr>
            <a:spLocks noGrp="1"/>
          </p:cNvSpPr>
          <p:nvPr>
            <p:ph type="body" sz="quarter" idx="27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Cover Optio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 up of a sign&#10;&#10;Description automatically generated">
            <a:extLst>
              <a:ext uri="{FF2B5EF4-FFF2-40B4-BE49-F238E27FC236}">
                <a16:creationId xmlns:a16="http://schemas.microsoft.com/office/drawing/2014/main" id="{F98DCACE-65A7-5044-AE4A-0380388C9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17184" y="185519"/>
            <a:ext cx="2934760" cy="762039"/>
          </a:xfrm>
          <a:prstGeom prst="rect">
            <a:avLst/>
          </a:prstGeom>
        </p:spPr>
      </p:pic>
      <p:sp>
        <p:nvSpPr>
          <p:cNvPr id="50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626535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3" name="Text Placeholder 45"/>
          <p:cNvSpPr>
            <a:spLocks noGrp="1"/>
          </p:cNvSpPr>
          <p:nvPr>
            <p:ph type="body" sz="quarter" idx="18" hasCustomPrompt="1"/>
          </p:nvPr>
        </p:nvSpPr>
        <p:spPr>
          <a:xfrm>
            <a:off x="626535" y="4959068"/>
            <a:ext cx="3590495" cy="9144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6" name="Text Placeholder 9"/>
          <p:cNvSpPr>
            <a:spLocks noGrp="1"/>
          </p:cNvSpPr>
          <p:nvPr>
            <p:ph type="body" sz="quarter" idx="21" hasCustomPrompt="1"/>
          </p:nvPr>
        </p:nvSpPr>
        <p:spPr>
          <a:xfrm>
            <a:off x="4556496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57" name="Text Placeholder 45"/>
          <p:cNvSpPr>
            <a:spLocks noGrp="1"/>
          </p:cNvSpPr>
          <p:nvPr>
            <p:ph type="body" sz="quarter" idx="22" hasCustomPrompt="1"/>
          </p:nvPr>
        </p:nvSpPr>
        <p:spPr>
          <a:xfrm>
            <a:off x="4556496" y="4959068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second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45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1681607"/>
            <a:ext cx="11901165" cy="276153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5" y="110360"/>
            <a:ext cx="9034837" cy="1119235"/>
          </a:xfrm>
        </p:spPr>
        <p:txBody>
          <a:bodyPr lIns="0" rIns="91440" anchor="b">
            <a:normAutofit/>
          </a:bodyPr>
          <a:lstStyle>
            <a:lvl1pPr>
              <a:defRPr sz="3733" baseline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presentation title –</a:t>
            </a:r>
            <a:br>
              <a:rPr lang="en-US" dirty="0"/>
            </a:br>
            <a:r>
              <a:rPr lang="en-US" dirty="0"/>
              <a:t>Cover option D</a:t>
            </a:r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8480263" y="4581631"/>
            <a:ext cx="3590495" cy="393700"/>
          </a:xfrm>
        </p:spPr>
        <p:txBody>
          <a:bodyPr lIns="0" bIns="0" anchor="b">
            <a:normAutofit/>
          </a:bodyPr>
          <a:lstStyle>
            <a:lvl1pPr marL="0" indent="0">
              <a:buFont typeface="Arial" pitchFamily="34" charset="0"/>
              <a:buNone/>
              <a:defRPr sz="1867" b="1" cap="all" baseline="0">
                <a:solidFill>
                  <a:srgbClr val="47484A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24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8" name="Text Placeholder 45"/>
          <p:cNvSpPr>
            <a:spLocks noGrp="1"/>
          </p:cNvSpPr>
          <p:nvPr>
            <p:ph type="body" sz="quarter" idx="24" hasCustomPrompt="1"/>
          </p:nvPr>
        </p:nvSpPr>
        <p:spPr>
          <a:xfrm>
            <a:off x="8480263" y="4959068"/>
            <a:ext cx="3590495" cy="746723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Font typeface="Arial" pitchFamily="34" charset="0"/>
              <a:buNone/>
              <a:defRPr sz="1867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Remove third presenter info </a:t>
            </a:r>
            <a:br>
              <a:rPr lang="en-US" dirty="0"/>
            </a:br>
            <a:r>
              <a:rPr lang="en-US" dirty="0"/>
              <a:t>if not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626533" y="1229594"/>
            <a:ext cx="11313219" cy="331077"/>
          </a:xfrm>
        </p:spPr>
        <p:txBody>
          <a:bodyPr/>
          <a:lstStyle>
            <a:lvl1pPr marL="0" indent="0">
              <a:buNone/>
              <a:defRPr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– delete if not needed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" y="1681605"/>
            <a:ext cx="299452" cy="2761488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Placeholder 45"/>
          <p:cNvSpPr>
            <a:spLocks noGrp="1"/>
          </p:cNvSpPr>
          <p:nvPr>
            <p:ph type="body" sz="quarter" idx="19" hasCustomPrompt="1"/>
          </p:nvPr>
        </p:nvSpPr>
        <p:spPr>
          <a:xfrm>
            <a:off x="8480263" y="6094281"/>
            <a:ext cx="3590496" cy="515411"/>
          </a:xfrm>
        </p:spPr>
        <p:txBody>
          <a:bodyPr lIns="0" anchor="b"/>
          <a:lstStyle>
            <a:lvl1pPr marL="0" indent="0">
              <a:spcBef>
                <a:spcPts val="0"/>
              </a:spcBef>
              <a:buNone/>
              <a:defRPr sz="1867" baseline="0">
                <a:solidFill>
                  <a:srgbClr val="47484A"/>
                </a:solidFill>
              </a:defRPr>
            </a:lvl1pPr>
            <a:lvl2pPr marL="0" indent="0">
              <a:spcBef>
                <a:spcPts val="2400"/>
              </a:spcBef>
              <a:buNone/>
              <a:defRPr/>
            </a:lvl2pPr>
          </a:lstStyle>
          <a:p>
            <a:pPr lvl="0"/>
            <a:r>
              <a:rPr lang="en-US" dirty="0"/>
              <a:t>Presentation Date</a:t>
            </a:r>
            <a:br>
              <a:rPr lang="en-US" dirty="0"/>
            </a:br>
            <a:r>
              <a:rPr lang="en-US" dirty="0"/>
              <a:t>City, State (presentation location)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828" y="6269435"/>
            <a:ext cx="2728491" cy="3470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0B74B2-E6E3-1F42-960D-D93F5F6DFFD7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45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Full Fr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7" y="9304"/>
            <a:ext cx="11901164" cy="6858000"/>
          </a:xfrm>
          <a:solidFill>
            <a:schemeClr val="bg1"/>
          </a:solidFill>
        </p:spPr>
        <p:txBody>
          <a:bodyPr lIns="0" tIns="16459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 then right click image and “SEND IMAGE TO BACK”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775200"/>
            <a:ext cx="12192000" cy="2082800"/>
          </a:xfrm>
          <a:solidFill>
            <a:schemeClr val="tx2">
              <a:alpha val="91000"/>
            </a:schemeClr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5" y="5042975"/>
            <a:ext cx="11094720" cy="1373592"/>
          </a:xfrm>
        </p:spPr>
        <p:txBody>
          <a:bodyPr lIns="0" anchor="t"/>
          <a:lstStyle>
            <a:lvl1pPr>
              <a:defRPr sz="32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Full-frame image layout  –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37AC7-5779-EA49-A0D7-9D1B49DA1F37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33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915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7" y="-1"/>
            <a:ext cx="11901164" cy="3656013"/>
          </a:xfrm>
          <a:solidFill>
            <a:schemeClr val="bg1"/>
          </a:solidFill>
        </p:spPr>
        <p:txBody>
          <a:bodyPr lIns="0"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53384"/>
            <a:ext cx="11565467" cy="787099"/>
          </a:xfrm>
        </p:spPr>
        <p:txBody>
          <a:bodyPr lIns="0"/>
          <a:lstStyle>
            <a:lvl1pPr>
              <a:defRPr sz="3733"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one image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64664-6AC5-4D43-A5BA-3C65A0CD272B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16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90836" y="1"/>
            <a:ext cx="5974080" cy="3663951"/>
          </a:xfrm>
          <a:solidFill>
            <a:schemeClr val="bg1">
              <a:lumMod val="75000"/>
            </a:schemeClr>
          </a:solidFill>
        </p:spPr>
        <p:txBody>
          <a:bodyPr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2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243367" y="1"/>
            <a:ext cx="5974080" cy="3663951"/>
          </a:xfrm>
          <a:solidFill>
            <a:schemeClr val="bg1">
              <a:lumMod val="85000"/>
            </a:schemeClr>
          </a:solidFill>
        </p:spPr>
        <p:txBody>
          <a:bodyPr tIns="109728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40684"/>
            <a:ext cx="11565467" cy="787099"/>
          </a:xfrm>
        </p:spPr>
        <p:txBody>
          <a:bodyPr lIns="0"/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TWO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788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D6018-DDBA-E84D-A7DB-865142558636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45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THREE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3656122"/>
            <a:ext cx="12192000" cy="3201879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0"/>
            <a:ext cx="3986784" cy="367364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258983" y="0"/>
            <a:ext cx="3986784" cy="367364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8149" y="0"/>
            <a:ext cx="3943851" cy="367364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51915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6533" y="4353384"/>
            <a:ext cx="11565467" cy="787099"/>
          </a:xfrm>
        </p:spPr>
        <p:txBody>
          <a:bodyPr lIns="0"/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Three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7FFC8-1032-3A40-A0C9-227A67AABE6E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4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*Pic - FOUR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bIns="0" anchor="b" anchorCtr="0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</a:t>
            </a:r>
            <a:r>
              <a:rPr lang="en-US" dirty="0" err="1"/>
              <a:t>x1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Picture Placeholder 4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0836" y="1654175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9" name="Picture Placehold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270980" y="1654175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0" name="Picture Placehold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251121" y="1654175"/>
            <a:ext cx="2987040" cy="2238283"/>
          </a:xfrm>
          <a:solidFill>
            <a:schemeClr val="bg1">
              <a:lumMod val="8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11" name="Picture Placeholder 4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208029" y="1654175"/>
            <a:ext cx="2987040" cy="2238283"/>
          </a:xfrm>
          <a:solidFill>
            <a:schemeClr val="bg1">
              <a:lumMod val="75000"/>
            </a:schemeClr>
          </a:solidFill>
        </p:spPr>
        <p:txBody>
          <a:bodyPr lIns="0" tIns="731520" anchor="t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26533" y="4645419"/>
            <a:ext cx="11246069" cy="1813035"/>
          </a:xfrm>
          <a:noFill/>
        </p:spPr>
        <p:txBody>
          <a:bodyPr lIns="0" tIns="9144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2667">
                <a:solidFill>
                  <a:schemeClr val="bg1"/>
                </a:solidFill>
              </a:defRPr>
            </a:lvl3pPr>
            <a:lvl4pPr>
              <a:defRPr sz="2667">
                <a:solidFill>
                  <a:schemeClr val="bg1"/>
                </a:solidFill>
              </a:defRPr>
            </a:lvl4pPr>
            <a:lvl5pPr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Science/R&amp;D hero – four images</a:t>
            </a:r>
            <a:br>
              <a:rPr lang="en-US" dirty="0"/>
            </a:br>
            <a:r>
              <a:rPr lang="en-US" dirty="0"/>
              <a:t>Headline is </a:t>
            </a:r>
            <a:r>
              <a:rPr lang="en-US" dirty="0" err="1"/>
              <a:t>arial</a:t>
            </a:r>
            <a:r>
              <a:rPr lang="en-US" dirty="0"/>
              <a:t> in all 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90838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256794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241420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9207377" y="3931764"/>
            <a:ext cx="2984625" cy="477837"/>
          </a:xfrm>
        </p:spPr>
        <p:txBody>
          <a:bodyPr lIns="91440" rIns="91440"/>
          <a:lstStyle>
            <a:lvl1pPr marL="0" indent="0">
              <a:lnSpc>
                <a:spcPct val="95000"/>
              </a:lnSpc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Image caption Image caption Image caption Image caption Image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3"/>
          </p:nvPr>
        </p:nvSpPr>
        <p:spPr>
          <a:xfrm>
            <a:off x="0" y="-1"/>
            <a:ext cx="3048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3"/>
            <a:ext cx="304800" cy="6858000"/>
          </a:xfrm>
          <a:solidFill>
            <a:schemeClr val="accent1"/>
          </a:solidFill>
        </p:spPr>
        <p:txBody>
          <a:bodyPr bIns="0" anchor="b"/>
          <a:lstStyle>
            <a:lvl1pPr marL="0" indent="0">
              <a:buNone/>
              <a:defRPr sz="133"/>
            </a:lvl1pPr>
          </a:lstStyle>
          <a:p>
            <a:pPr lvl="0"/>
            <a:r>
              <a:rPr lang="en-US" dirty="0"/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615DA8-4650-8A4E-B3B2-622DC8056A60}"/>
              </a:ext>
            </a:extLst>
          </p:cNvPr>
          <p:cNvSpPr txBox="1"/>
          <p:nvPr/>
        </p:nvSpPr>
        <p:spPr>
          <a:xfrm>
            <a:off x="-2501970" y="0"/>
            <a:ext cx="2065241" cy="419685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</a:rPr>
              <a:t>Instructions on replacing a current image: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Select and delete image and click the icon to insert a different image</a:t>
            </a:r>
          </a:p>
          <a:p>
            <a:pPr marL="304792" indent="-304792">
              <a:buFont typeface="+mj-lt"/>
              <a:buAutoNum type="arabicPeriod"/>
            </a:pPr>
            <a:r>
              <a:rPr lang="en-US" sz="1867" dirty="0">
                <a:solidFill>
                  <a:schemeClr val="bg1"/>
                </a:solidFill>
              </a:rPr>
              <a:t>Use the crop tool to position the image within the shape. 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9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058C-A0FA-2C4C-B4AB-8132A1BD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E5DC-A265-5E43-9C9D-8E563D9C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32045-0A27-7843-B048-176DEA19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8958-0B4C-B740-B09A-927EAAE3B3B5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46D4-22A8-C44B-80DD-A17000C46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9725-494C-624A-8FF3-D65ED2B9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57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F773-06B7-EC8C-B0B5-DF511DF50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9AC4D-CB23-D778-674F-44E945EEB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256F3-C647-05D4-0FBC-C15FBFCB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98958-0B4C-B740-B09A-927EAAE3B3B5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B289-1FAF-40BA-4D18-503360FE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19BAD-5370-6BCE-2973-AD665234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9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D251620B-FC18-4146-9BF7-244077EE7563}"/>
              </a:ext>
            </a:extLst>
          </p:cNvPr>
          <p:cNvPicPr>
            <a:picLocks noChangeAspect="1"/>
          </p:cNvPicPr>
          <p:nvPr/>
        </p:nvPicPr>
        <p:blipFill>
          <a:blip r:embed="rId3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0887" y="6392863"/>
            <a:ext cx="1393256" cy="3977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77838"/>
            <a:ext cx="11163868" cy="8289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Headline in all caps </a:t>
            </a:r>
            <a:r>
              <a:rPr lang="en-US" dirty="0" err="1"/>
              <a:t>28pt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58435"/>
            <a:ext cx="11163868" cy="4422775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91200" y="6473709"/>
            <a:ext cx="609600" cy="182880"/>
          </a:xfrm>
          <a:prstGeom prst="rect">
            <a:avLst/>
          </a:prstGeom>
        </p:spPr>
        <p:txBody>
          <a:bodyPr vert="horz" lIns="0" tIns="45720" rIns="0" bIns="0" rtlCol="0" anchor="b"/>
          <a:lstStyle>
            <a:lvl1pPr algn="ctr">
              <a:defRPr sz="13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1F638A9-C78A-C24F-AA05-692797505302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0" y="-3"/>
            <a:ext cx="304800" cy="68580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33">
              <a:solidFill>
                <a:schemeClr val="accent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2" y="6436112"/>
            <a:ext cx="1891671" cy="2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5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09585" rtl="0" eaLnBrk="1" latinLnBrk="0" hangingPunct="1">
        <a:lnSpc>
          <a:spcPct val="95000"/>
        </a:lnSpc>
        <a:spcBef>
          <a:spcPct val="0"/>
        </a:spcBef>
        <a:buNone/>
        <a:defRPr sz="3733" b="1" i="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0712" indent="-230712" algn="l" defTabSz="609585" rtl="0" eaLnBrk="1" latinLnBrk="0" hangingPunct="1">
        <a:spcBef>
          <a:spcPts val="800"/>
        </a:spcBef>
        <a:spcAft>
          <a:spcPts val="0"/>
        </a:spcAft>
        <a:buFont typeface="Wingdings" pitchFamily="2" charset="2"/>
        <a:buChar char="§"/>
        <a:defRPr sz="24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694249" indent="-315376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1071007" indent="-249760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449881" indent="-228594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828754" indent="-228594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»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564">
          <p15:clr>
            <a:srgbClr val="F26B43"/>
          </p15:clr>
        </p15:guide>
        <p15:guide id="4" pos="5568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orient="horz" pos="1720">
          <p15:clr>
            <a:srgbClr val="F26B43"/>
          </p15:clr>
        </p15:guide>
        <p15:guide id="7" orient="horz" pos="876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pos="2880">
          <p15:clr>
            <a:srgbClr val="F26B43"/>
          </p15:clr>
        </p15:guide>
        <p15:guide id="10" orient="horz" pos="3156">
          <p15:clr>
            <a:srgbClr val="F26B43"/>
          </p15:clr>
        </p15:guide>
        <p15:guide id="11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D251620B-FC18-4146-9BF7-244077EE7563}"/>
              </a:ext>
            </a:extLst>
          </p:cNvPr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0887" y="6392863"/>
            <a:ext cx="1393256" cy="3977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77838"/>
            <a:ext cx="11163868" cy="82894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Headline in all caps </a:t>
            </a:r>
            <a:r>
              <a:rPr lang="en-US" dirty="0" err="1"/>
              <a:t>28pt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58435"/>
            <a:ext cx="11163868" cy="4422775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91200" y="6473709"/>
            <a:ext cx="609600" cy="182880"/>
          </a:xfrm>
          <a:prstGeom prst="rect">
            <a:avLst/>
          </a:prstGeom>
        </p:spPr>
        <p:txBody>
          <a:bodyPr vert="horz" lIns="0" tIns="45720" rIns="0" bIns="0" rtlCol="0" anchor="b"/>
          <a:lstStyle>
            <a:lvl1pPr algn="ctr">
              <a:defRPr sz="13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EBC7587-946A-0B4A-BB94-C3E142B1ED8C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0" y="-3"/>
            <a:ext cx="304800" cy="68580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121920" tIns="60960" rIns="12192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33">
              <a:solidFill>
                <a:schemeClr val="accent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2" y="6436112"/>
            <a:ext cx="1891671" cy="2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1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09585" rtl="0" eaLnBrk="1" latinLnBrk="0" hangingPunct="1">
        <a:lnSpc>
          <a:spcPct val="95000"/>
        </a:lnSpc>
        <a:spcBef>
          <a:spcPct val="0"/>
        </a:spcBef>
        <a:buNone/>
        <a:defRPr sz="3733" b="1" i="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30712" indent="-230712" algn="l" defTabSz="609585" rtl="0" eaLnBrk="1" latinLnBrk="0" hangingPunct="1">
        <a:spcBef>
          <a:spcPts val="800"/>
        </a:spcBef>
        <a:spcAft>
          <a:spcPts val="0"/>
        </a:spcAft>
        <a:buFont typeface="Wingdings" pitchFamily="2" charset="2"/>
        <a:buChar char="§"/>
        <a:defRPr sz="2400" kern="1200" baseline="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694249" indent="-315376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1071007" indent="-249760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1449881" indent="-228594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–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828754" indent="-228594" algn="l" defTabSz="609585" rtl="0" eaLnBrk="1" latinLnBrk="0" hangingPunct="1">
        <a:spcBef>
          <a:spcPts val="0"/>
        </a:spcBef>
        <a:spcAft>
          <a:spcPts val="0"/>
        </a:spcAft>
        <a:buFont typeface="Arial"/>
        <a:buChar char="»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564">
          <p15:clr>
            <a:srgbClr val="F26B43"/>
          </p15:clr>
        </p15:guide>
        <p15:guide id="4" pos="5568">
          <p15:clr>
            <a:srgbClr val="F26B43"/>
          </p15:clr>
        </p15:guide>
        <p15:guide id="5" orient="horz" pos="2964">
          <p15:clr>
            <a:srgbClr val="F26B43"/>
          </p15:clr>
        </p15:guide>
        <p15:guide id="6" orient="horz" pos="1720">
          <p15:clr>
            <a:srgbClr val="F26B43"/>
          </p15:clr>
        </p15:guide>
        <p15:guide id="7" orient="horz" pos="876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pos="2880">
          <p15:clr>
            <a:srgbClr val="F26B43"/>
          </p15:clr>
        </p15:guide>
        <p15:guide id="10" orient="horz" pos="3156">
          <p15:clr>
            <a:srgbClr val="F26B43"/>
          </p15:clr>
        </p15:guide>
        <p15:guide id="11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localhost:8502/" TargetMode="Externa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36C3DD-54F7-720C-4B83-77B200EB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689100"/>
            <a:ext cx="12191998" cy="2706624"/>
          </a:xfrm>
        </p:spPr>
        <p:txBody>
          <a:bodyPr/>
          <a:lstStyle/>
          <a:p>
            <a:r>
              <a:rPr lang="en-US" u="sng" dirty="0"/>
              <a:t>SOURDOUGH</a:t>
            </a:r>
            <a:r>
              <a:rPr lang="en-US" dirty="0"/>
              <a:t>: Synchrotron Observations Using Resolved Distributions Of Uptake, Geometry &amp; Heterogeneity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5F965-9A8E-9B79-7701-4BF4A5E9D8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B5F8DB-0D2F-8EA3-E963-6EA93AE9E2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Hassan Harb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2AA42B-0D88-76CE-66BF-FD95E84BDC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6535" y="4960384"/>
            <a:ext cx="3993591" cy="914400"/>
          </a:xfrm>
        </p:spPr>
        <p:txBody>
          <a:bodyPr>
            <a:normAutofit/>
          </a:bodyPr>
          <a:lstStyle/>
          <a:p>
            <a:r>
              <a:rPr lang="en-US" dirty="0"/>
              <a:t>Software Developer / Data Scientist</a:t>
            </a:r>
          </a:p>
          <a:p>
            <a:r>
              <a:rPr lang="en-US" dirty="0" err="1"/>
              <a:t>eBERlight</a:t>
            </a:r>
            <a:r>
              <a:rPr lang="en-US" dirty="0"/>
              <a:t> Group</a:t>
            </a:r>
          </a:p>
          <a:p>
            <a:r>
              <a:rPr lang="en-US" dirty="0"/>
              <a:t>XSD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48922A-3E98-DCD7-D739-E7C45E9538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Sep 23, 2026</a:t>
            </a:r>
          </a:p>
        </p:txBody>
      </p:sp>
    </p:spTree>
    <p:extLst>
      <p:ext uri="{BB962C8B-B14F-4D97-AF65-F5344CB8AC3E}">
        <p14:creationId xmlns:p14="http://schemas.microsoft.com/office/powerpoint/2010/main" val="109546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9442BBE-0FB2-E96B-F1E8-5C670D04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SOURDOUGH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01B1AC5-F060-1636-F345-8A492A257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309272"/>
            <a:ext cx="11289630" cy="510590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</a:t>
            </a:r>
            <a:r>
              <a:rPr lang="en-US" dirty="0"/>
              <a:t>ynchrotron </a:t>
            </a:r>
            <a:r>
              <a:rPr lang="en-US" b="1" dirty="0"/>
              <a:t>O</a:t>
            </a:r>
            <a:r>
              <a:rPr lang="en-US" dirty="0"/>
              <a:t>bservations </a:t>
            </a:r>
            <a:r>
              <a:rPr lang="en-US" b="1" dirty="0"/>
              <a:t>U</a:t>
            </a:r>
            <a:r>
              <a:rPr lang="en-US" dirty="0"/>
              <a:t>sing </a:t>
            </a:r>
            <a:r>
              <a:rPr lang="en-US" b="1" dirty="0"/>
              <a:t>R</a:t>
            </a:r>
            <a:r>
              <a:rPr lang="en-US" dirty="0"/>
              <a:t>esolved </a:t>
            </a:r>
            <a:r>
              <a:rPr lang="en-US" b="1" dirty="0"/>
              <a:t>D</a:t>
            </a:r>
            <a:r>
              <a:rPr lang="en-US" dirty="0"/>
              <a:t>istributions </a:t>
            </a:r>
            <a:r>
              <a:rPr lang="en-US" b="1" dirty="0"/>
              <a:t>O</a:t>
            </a:r>
            <a:r>
              <a:rPr lang="en-US" dirty="0"/>
              <a:t>f </a:t>
            </a:r>
            <a:r>
              <a:rPr lang="en-US" b="1" dirty="0"/>
              <a:t>U</a:t>
            </a:r>
            <a:r>
              <a:rPr lang="en-US" dirty="0"/>
              <a:t>ptake, </a:t>
            </a:r>
            <a:r>
              <a:rPr lang="en-US" b="1" dirty="0"/>
              <a:t>G</a:t>
            </a:r>
            <a:r>
              <a:rPr lang="en-US" dirty="0"/>
              <a:t>eometry &amp; </a:t>
            </a:r>
            <a:r>
              <a:rPr lang="en-US" b="1" dirty="0"/>
              <a:t>H</a:t>
            </a:r>
            <a:r>
              <a:rPr lang="en-US" dirty="0"/>
              <a:t>eterogeneity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SOURDOUGH</a:t>
            </a:r>
            <a:r>
              <a:rPr lang="en-US" dirty="0"/>
              <a:t> converts cellular XRF measurements into reviewed, quantitative, cell-level chemical datasets that scientists can compare across cells, mutants, and experimental conditions.</a:t>
            </a:r>
            <a:br>
              <a:rPr lang="en-US" dirty="0"/>
            </a:b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F472E54-D31F-F651-DF75-20462DEF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53"/>
          <a:stretch>
            <a:fillRect/>
          </a:stretch>
        </p:blipFill>
        <p:spPr>
          <a:xfrm>
            <a:off x="497799" y="3862225"/>
            <a:ext cx="4753243" cy="10851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1B4695-E452-9610-665F-F5DBE182A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263" y="5065295"/>
            <a:ext cx="7943737" cy="1733485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84F56E4-E051-635C-9DB4-07C0F4995F60}"/>
              </a:ext>
            </a:extLst>
          </p:cNvPr>
          <p:cNvSpPr/>
          <p:nvPr/>
        </p:nvSpPr>
        <p:spPr>
          <a:xfrm>
            <a:off x="4310743" y="5099019"/>
            <a:ext cx="558550" cy="486479"/>
          </a:xfrm>
          <a:prstGeom prst="roundRect">
            <a:avLst/>
          </a:prstGeom>
          <a:solidFill>
            <a:srgbClr val="DE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ent Arrow 25">
            <a:extLst>
              <a:ext uri="{FF2B5EF4-FFF2-40B4-BE49-F238E27FC236}">
                <a16:creationId xmlns:a16="http://schemas.microsoft.com/office/drawing/2014/main" id="{762D32D7-9134-F82F-AEBB-41461A6B8A1C}"/>
              </a:ext>
            </a:extLst>
          </p:cNvPr>
          <p:cNvSpPr/>
          <p:nvPr/>
        </p:nvSpPr>
        <p:spPr>
          <a:xfrm rot="10800000" flipH="1">
            <a:off x="2304272" y="5099019"/>
            <a:ext cx="1651223" cy="1327057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3020"/>
            </a:avLst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39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ABC4-F643-1EA9-C651-12595998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showcase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C6D3AB-B570-230B-D841-11876394A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2" y="2514600"/>
            <a:ext cx="29845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FA987-DC3D-5D5F-E402-A2B00006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4385264"/>
            <a:ext cx="2984500" cy="1095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16AB21-ED45-095B-CD77-7AAF9B0A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840" y="1521243"/>
            <a:ext cx="7297486" cy="45851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DF3F4C-AF2A-C0DE-0490-1F1AC52835DB}"/>
              </a:ext>
            </a:extLst>
          </p:cNvPr>
          <p:cNvSpPr txBox="1"/>
          <p:nvPr/>
        </p:nvSpPr>
        <p:spPr>
          <a:xfrm>
            <a:off x="609602" y="176385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file: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E57AF-7193-8B8E-F911-20F6FBB0E69C}"/>
              </a:ext>
            </a:extLst>
          </p:cNvPr>
          <p:cNvSpPr txBox="1"/>
          <p:nvPr/>
        </p:nvSpPr>
        <p:spPr>
          <a:xfrm>
            <a:off x="609602" y="3810409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Element of interest:</a:t>
            </a:r>
          </a:p>
        </p:txBody>
      </p:sp>
    </p:spTree>
    <p:extLst>
      <p:ext uri="{BB962C8B-B14F-4D97-AF65-F5344CB8AC3E}">
        <p14:creationId xmlns:p14="http://schemas.microsoft.com/office/powerpoint/2010/main" val="176033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30EE-1996-3208-2E9B-374EB218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Showcase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F14C8E-844B-362B-5CD8-AEC0979DD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15213"/>
            <a:ext cx="3825184" cy="3627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0CB1AF-31EB-FBD4-6455-8DB75AF56B4D}"/>
              </a:ext>
            </a:extLst>
          </p:cNvPr>
          <p:cNvSpPr txBox="1"/>
          <p:nvPr/>
        </p:nvSpPr>
        <p:spPr>
          <a:xfrm>
            <a:off x="1010652" y="5351527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Interactive 3D surface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9E849-6B86-5382-A56D-EB9F43B6E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979" y="1714500"/>
            <a:ext cx="3612810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79E21-57D1-8B11-A614-EACB540F6CAA}"/>
              </a:ext>
            </a:extLst>
          </p:cNvPr>
          <p:cNvSpPr txBox="1"/>
          <p:nvPr/>
        </p:nvSpPr>
        <p:spPr>
          <a:xfrm>
            <a:off x="3936076" y="5364060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Single-pixel XRF visualizer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26C798-486E-8142-D87B-46B5ED476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789" y="2199612"/>
            <a:ext cx="5068639" cy="21197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A2C2F7-E3C1-7493-4DD9-83308A680057}"/>
              </a:ext>
            </a:extLst>
          </p:cNvPr>
          <p:cNvSpPr txBox="1"/>
          <p:nvPr/>
        </p:nvSpPr>
        <p:spPr>
          <a:xfrm>
            <a:off x="8242019" y="4540736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Side by side comparison</a:t>
            </a:r>
          </a:p>
          <a:p>
            <a:r>
              <a:rPr lang="en-US" b="1" dirty="0"/>
              <a:t>(Per element)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FED4B-9148-C9E6-DA53-C4DDCF282601}"/>
              </a:ext>
            </a:extLst>
          </p:cNvPr>
          <p:cNvSpPr txBox="1"/>
          <p:nvPr/>
        </p:nvSpPr>
        <p:spPr>
          <a:xfrm>
            <a:off x="5699343" y="6288066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Demo (if time permits): </a:t>
            </a:r>
            <a:r>
              <a:rPr lang="en-US" i="1" dirty="0">
                <a:hlinkClick r:id="rId5"/>
              </a:rPr>
              <a:t>http://localhost:8502/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42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DFE1-B012-F072-EE30-13576EC9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works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275F2C-F304-A4CA-38E5-F509A2180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502314"/>
            <a:ext cx="5653412" cy="4422776"/>
          </a:xfrm>
        </p:spPr>
        <p:txBody>
          <a:bodyPr/>
          <a:lstStyle/>
          <a:p>
            <a:r>
              <a:rPr lang="en-US" dirty="0"/>
              <a:t>Make measurements </a:t>
            </a:r>
            <a:r>
              <a:rPr lang="en-US" u="sng" dirty="0"/>
              <a:t>more reliable</a:t>
            </a:r>
          </a:p>
          <a:p>
            <a:r>
              <a:rPr lang="en-US" u="sng" dirty="0"/>
              <a:t>Clean up</a:t>
            </a:r>
            <a:r>
              <a:rPr lang="en-US" dirty="0"/>
              <a:t> problematic data</a:t>
            </a:r>
          </a:p>
          <a:p>
            <a:r>
              <a:rPr lang="en-US" u="sng" dirty="0"/>
              <a:t>Improve</a:t>
            </a:r>
            <a:r>
              <a:rPr lang="en-US" dirty="0"/>
              <a:t> cell identification</a:t>
            </a:r>
          </a:p>
          <a:p>
            <a:r>
              <a:rPr lang="en-US" dirty="0"/>
              <a:t>Add a </a:t>
            </a:r>
            <a:r>
              <a:rPr lang="en-US" u="sng" dirty="0"/>
              <a:t>review step </a:t>
            </a:r>
            <a:r>
              <a:rPr lang="en-US" dirty="0"/>
              <a:t>for scientists</a:t>
            </a:r>
          </a:p>
          <a:p>
            <a:r>
              <a:rPr lang="en-US" dirty="0"/>
              <a:t>Build a </a:t>
            </a:r>
            <a:r>
              <a:rPr lang="en-US" u="sng" dirty="0"/>
              <a:t>complete profile</a:t>
            </a:r>
            <a:r>
              <a:rPr lang="en-US" dirty="0"/>
              <a:t> for every cell</a:t>
            </a:r>
          </a:p>
          <a:p>
            <a:r>
              <a:rPr lang="en-US" u="sng" dirty="0"/>
              <a:t>Discover patterns</a:t>
            </a:r>
            <a:r>
              <a:rPr lang="en-US" dirty="0"/>
              <a:t> across many cells</a:t>
            </a:r>
          </a:p>
          <a:p>
            <a:r>
              <a:rPr lang="en-US" dirty="0"/>
              <a:t>Create </a:t>
            </a:r>
            <a:r>
              <a:rPr lang="en-US" u="sng" dirty="0"/>
              <a:t>clear reports</a:t>
            </a:r>
            <a:r>
              <a:rPr lang="en-US" dirty="0"/>
              <a:t> and figures</a:t>
            </a:r>
          </a:p>
          <a:p>
            <a:r>
              <a:rPr lang="en-US" dirty="0"/>
              <a:t>Add an </a:t>
            </a:r>
            <a:r>
              <a:rPr lang="en-US" u="sng" dirty="0"/>
              <a:t>AI assistant</a:t>
            </a:r>
            <a:r>
              <a:rPr lang="en-US" dirty="0"/>
              <a:t> at the end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BBE7753-A44C-BCE5-777B-CC96C7D9DF13}"/>
              </a:ext>
            </a:extLst>
          </p:cNvPr>
          <p:cNvSpPr txBox="1">
            <a:spLocks/>
          </p:cNvSpPr>
          <p:nvPr/>
        </p:nvSpPr>
        <p:spPr>
          <a:xfrm>
            <a:off x="6096000" y="1502314"/>
            <a:ext cx="5486398" cy="4422776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>
            <a:lvl1pPr marL="230712" indent="-230712" algn="l" defTabSz="609585" rtl="0" eaLnBrk="1" latinLnBrk="0" hangingPunct="1">
              <a:spcBef>
                <a:spcPts val="800"/>
              </a:spcBef>
              <a:spcAft>
                <a:spcPts val="0"/>
              </a:spcAft>
              <a:buFont typeface="Wingdings" pitchFamily="2" charset="2"/>
              <a:buChar char="§"/>
              <a:defRPr sz="2400" kern="1200" baseline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94249" indent="-315376" algn="l" defTabSz="609585" rtl="0" eaLnBrk="1" latinLnBrk="0" hangingPunct="1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24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71007" indent="-249760" algn="l" defTabSz="609585" rtl="0" eaLnBrk="1" latinLnBrk="0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4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49881" indent="-228594" algn="l" defTabSz="609585" rtl="0" eaLnBrk="1" latinLnBrk="0" hangingPunct="1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24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54" indent="-228594" algn="l" defTabSz="609585" rtl="0" eaLnBrk="1" latinLnBrk="0" hangingPunct="1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4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Question: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i="1" dirty="0"/>
              <a:t>If you had a magic wand, what would you want SOURDOUGH to do for you?</a:t>
            </a:r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4929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rgonne_75">
  <a:themeElements>
    <a:clrScheme name="Argonne General Purpose Template">
      <a:dk1>
        <a:srgbClr val="47484A"/>
      </a:dk1>
      <a:lt1>
        <a:srgbClr val="FFFFFF"/>
      </a:lt1>
      <a:dk2>
        <a:srgbClr val="0082CA"/>
      </a:dk2>
      <a:lt2>
        <a:srgbClr val="ECAA00"/>
      </a:lt2>
      <a:accent1>
        <a:srgbClr val="7AB800"/>
      </a:accent1>
      <a:accent2>
        <a:srgbClr val="00609C"/>
      </a:accent2>
      <a:accent3>
        <a:srgbClr val="4D008C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76777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gonne_75" id="{D2192524-7107-AB4E-92D9-67576F0EF724}" vid="{BA7C0DFA-287E-FB4E-8D19-D9D5C34D35EB}"/>
    </a:ext>
  </a:extLst>
</a:theme>
</file>

<file path=ppt/theme/theme2.xml><?xml version="1.0" encoding="utf-8"?>
<a:theme xmlns:a="http://schemas.openxmlformats.org/drawingml/2006/main" name="argonne3">
  <a:themeElements>
    <a:clrScheme name="Argonne General Purpose Template">
      <a:dk1>
        <a:srgbClr val="47484A"/>
      </a:dk1>
      <a:lt1>
        <a:srgbClr val="FFFFFF"/>
      </a:lt1>
      <a:dk2>
        <a:srgbClr val="0082CA"/>
      </a:dk2>
      <a:lt2>
        <a:srgbClr val="ECAA00"/>
      </a:lt2>
      <a:accent1>
        <a:srgbClr val="7AB800"/>
      </a:accent1>
      <a:accent2>
        <a:srgbClr val="00609C"/>
      </a:accent2>
      <a:accent3>
        <a:srgbClr val="4D008C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76777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gonne3" id="{3B5E02F3-385C-C544-AD53-8613361B310A}" vid="{F3DB0DA7-C643-5444-B50E-6A4DD578C2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Argonne_75</Template>
  <TotalTime>285</TotalTime>
  <Words>166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Wingdings</vt:lpstr>
      <vt:lpstr>Argonne_75</vt:lpstr>
      <vt:lpstr>argonne3</vt:lpstr>
      <vt:lpstr>SOURDOUGH: Synchrotron Observations Using Resolved Distributions Of Uptake, Geometry &amp; Heterogeneity</vt:lpstr>
      <vt:lpstr>SOURDOUGH</vt:lpstr>
      <vt:lpstr>Quick showcase</vt:lpstr>
      <vt:lpstr>Quick Showcase</vt:lpstr>
      <vt:lpstr>In the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Harb, Hassan</dc:creator>
  <cp:lastModifiedBy>Harb, Hassan</cp:lastModifiedBy>
  <cp:revision>5</cp:revision>
  <dcterms:created xsi:type="dcterms:W3CDTF">2026-09-23T15:06:27Z</dcterms:created>
  <dcterms:modified xsi:type="dcterms:W3CDTF">2026-09-23T19:52:10Z</dcterms:modified>
</cp:coreProperties>
</file>